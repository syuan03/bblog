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544929f136458b" /><Relationship Type="http://schemas.openxmlformats.org/officeDocument/2006/relationships/extended-properties" Target="/docProps/app.xml" Id="R1233c69779bf41ce" /><Relationship Type="http://schemas.openxmlformats.org/officeDocument/2006/relationships/officeDocument" Target="/ppt/presentation.xml" Id="Ra7845c6870824b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ae32f7c1f54f93"/>
  </p:sldMasterIdLst>
  <p:notesMasterIdLst>
    <p:notesMasterId xmlns:r="http://schemas.openxmlformats.org/officeDocument/2006/relationships" r:id="Re074798c777a4733"/>
  </p:notesMasterIdLst>
  <p:sldIdLst>
    <p:sldId xmlns:r="http://schemas.openxmlformats.org/officeDocument/2006/relationships" id="256" r:id="R8da3c7ae6ef94ef9"/>
    <p:sldId xmlns:r="http://schemas.openxmlformats.org/officeDocument/2006/relationships" id="257" r:id="Re18400ce26e84ea0"/>
    <p:sldId xmlns:r="http://schemas.openxmlformats.org/officeDocument/2006/relationships" id="258" r:id="R58da44a6847f4a88"/>
    <p:sldId xmlns:r="http://schemas.openxmlformats.org/officeDocument/2006/relationships" id="259" r:id="Rf0c09cd5fee54b7b"/>
    <p:sldId xmlns:r="http://schemas.openxmlformats.org/officeDocument/2006/relationships" id="260" r:id="Rbc525a11e932435f"/>
    <p:sldId xmlns:r="http://schemas.openxmlformats.org/officeDocument/2006/relationships" id="261" r:id="R188da2b14f6d4969"/>
    <p:sldId xmlns:r="http://schemas.openxmlformats.org/officeDocument/2006/relationships" id="262" r:id="Ra26b0e6ca0db4008"/>
    <p:sldId xmlns:r="http://schemas.openxmlformats.org/officeDocument/2006/relationships" id="263" r:id="R6e7cd51620344354"/>
    <p:sldId xmlns:r="http://schemas.openxmlformats.org/officeDocument/2006/relationships" id="264" r:id="Rbc25c213dd1e4541"/>
    <p:sldId xmlns:r="http://schemas.openxmlformats.org/officeDocument/2006/relationships" id="265" r:id="R3a1d3c0c5331438c"/>
    <p:sldId xmlns:r="http://schemas.openxmlformats.org/officeDocument/2006/relationships" id="266" r:id="Rf598827db4064862"/>
    <p:sldId xmlns:r="http://schemas.openxmlformats.org/officeDocument/2006/relationships" id="267" r:id="R4d208797ddd0419f"/>
    <p:sldId xmlns:r="http://schemas.openxmlformats.org/officeDocument/2006/relationships" id="268" r:id="Ree231973eb894ec1"/>
    <p:sldId xmlns:r="http://schemas.openxmlformats.org/officeDocument/2006/relationships" id="269" r:id="Recab9fe8b9544e9a"/>
    <p:sldId xmlns:r="http://schemas.openxmlformats.org/officeDocument/2006/relationships" id="270" r:id="R03d04ae28b754dbc"/>
    <p:sldId xmlns:r="http://schemas.openxmlformats.org/officeDocument/2006/relationships" id="271" r:id="Rd4bd8e648a6a4896"/>
    <p:sldId xmlns:r="http://schemas.openxmlformats.org/officeDocument/2006/relationships" id="272" r:id="R15b1af1443b2428b"/>
    <p:sldId xmlns:r="http://schemas.openxmlformats.org/officeDocument/2006/relationships" id="273" r:id="R10cc372bee9842d1"/>
    <p:sldId xmlns:r="http://schemas.openxmlformats.org/officeDocument/2006/relationships" id="274" r:id="Rf63f695beaac4e9d"/>
    <p:sldId xmlns:r="http://schemas.openxmlformats.org/officeDocument/2006/relationships" id="275" r:id="Rddbe04e75c474416"/>
    <p:sldId xmlns:r="http://schemas.openxmlformats.org/officeDocument/2006/relationships" id="276" r:id="R8f13ade8e9764ed3"/>
    <p:sldId xmlns:r="http://schemas.openxmlformats.org/officeDocument/2006/relationships" id="277" r:id="R87ff8ce7f6624b71"/>
    <p:sldId xmlns:r="http://schemas.openxmlformats.org/officeDocument/2006/relationships" id="278" r:id="Rea21653628b8431c"/>
    <p:sldId xmlns:r="http://schemas.openxmlformats.org/officeDocument/2006/relationships" id="279" r:id="Rddf819b6873a4cb2"/>
    <p:sldId xmlns:r="http://schemas.openxmlformats.org/officeDocument/2006/relationships" id="280" r:id="R32f8c0f438d346f3"/>
    <p:sldId xmlns:r="http://schemas.openxmlformats.org/officeDocument/2006/relationships" id="281" r:id="R00d1e6b5f46e4c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aadec5346a42f1" /><Relationship Type="http://schemas.openxmlformats.org/officeDocument/2006/relationships/slideMaster" Target="/ppt/slideMasters/slideMaster1.xml" Id="Re7ae32f7c1f54f93" /><Relationship Type="http://schemas.openxmlformats.org/officeDocument/2006/relationships/notesMaster" Target="/ppt/notesMasters/notesMaster1.xml" Id="Re074798c777a4733" /><Relationship Type="http://schemas.openxmlformats.org/officeDocument/2006/relationships/presProps" Target="/ppt/presProps.xml" Id="R4ad6d552c5084c33" /><Relationship Type="http://schemas.openxmlformats.org/officeDocument/2006/relationships/tableStyles" Target="/ppt/tableStyles.xml" Id="Re641a6f26ea3443d" /><Relationship Type="http://schemas.openxmlformats.org/officeDocument/2006/relationships/slide" Target="/ppt/slides/slide1.xml" Id="R8da3c7ae6ef94ef9" /><Relationship Type="http://schemas.openxmlformats.org/officeDocument/2006/relationships/slide" Target="/ppt/slides/slide2.xml" Id="Re18400ce26e84ea0" /><Relationship Type="http://schemas.openxmlformats.org/officeDocument/2006/relationships/slide" Target="/ppt/slides/slide3.xml" Id="R58da44a6847f4a88" /><Relationship Type="http://schemas.openxmlformats.org/officeDocument/2006/relationships/slide" Target="/ppt/slides/slide4.xml" Id="Rf0c09cd5fee54b7b" /><Relationship Type="http://schemas.openxmlformats.org/officeDocument/2006/relationships/slide" Target="/ppt/slides/slide5.xml" Id="Rbc525a11e932435f" /><Relationship Type="http://schemas.openxmlformats.org/officeDocument/2006/relationships/slide" Target="/ppt/slides/slide6.xml" Id="R188da2b14f6d4969" /><Relationship Type="http://schemas.openxmlformats.org/officeDocument/2006/relationships/slide" Target="/ppt/slides/slide7.xml" Id="Ra26b0e6ca0db4008" /><Relationship Type="http://schemas.openxmlformats.org/officeDocument/2006/relationships/slide" Target="/ppt/slides/slide8.xml" Id="R6e7cd51620344354" /><Relationship Type="http://schemas.openxmlformats.org/officeDocument/2006/relationships/slide" Target="/ppt/slides/slide9.xml" Id="Rbc25c213dd1e4541" /><Relationship Type="http://schemas.openxmlformats.org/officeDocument/2006/relationships/slide" Target="/ppt/slides/slide10.xml" Id="R3a1d3c0c5331438c" /><Relationship Type="http://schemas.openxmlformats.org/officeDocument/2006/relationships/slide" Target="/ppt/slides/slide11.xml" Id="Rf598827db4064862" /><Relationship Type="http://schemas.openxmlformats.org/officeDocument/2006/relationships/slide" Target="/ppt/slides/slide12.xml" Id="R4d208797ddd0419f" /><Relationship Type="http://schemas.openxmlformats.org/officeDocument/2006/relationships/slide" Target="/ppt/slides/slide13.xml" Id="Ree231973eb894ec1" /><Relationship Type="http://schemas.openxmlformats.org/officeDocument/2006/relationships/slide" Target="/ppt/slides/slide14.xml" Id="Recab9fe8b9544e9a" /><Relationship Type="http://schemas.openxmlformats.org/officeDocument/2006/relationships/slide" Target="/ppt/slides/slide15.xml" Id="R03d04ae28b754dbc" /><Relationship Type="http://schemas.openxmlformats.org/officeDocument/2006/relationships/slide" Target="/ppt/slides/slide16.xml" Id="Rd4bd8e648a6a4896" /><Relationship Type="http://schemas.openxmlformats.org/officeDocument/2006/relationships/slide" Target="/ppt/slides/slide17.xml" Id="R15b1af1443b2428b" /><Relationship Type="http://schemas.openxmlformats.org/officeDocument/2006/relationships/slide" Target="/ppt/slides/slide18.xml" Id="R10cc372bee9842d1" /><Relationship Type="http://schemas.openxmlformats.org/officeDocument/2006/relationships/slide" Target="/ppt/slides/slide19.xml" Id="Rf63f695beaac4e9d" /><Relationship Type="http://schemas.openxmlformats.org/officeDocument/2006/relationships/slide" Target="/ppt/slides/slide20.xml" Id="Rddbe04e75c474416" /><Relationship Type="http://schemas.openxmlformats.org/officeDocument/2006/relationships/slide" Target="/ppt/slides/slide21.xml" Id="R8f13ade8e9764ed3" /><Relationship Type="http://schemas.openxmlformats.org/officeDocument/2006/relationships/slide" Target="/ppt/slides/slide22.xml" Id="R87ff8ce7f6624b71" /><Relationship Type="http://schemas.openxmlformats.org/officeDocument/2006/relationships/slide" Target="/ppt/slides/slide23.xml" Id="Rea21653628b8431c" /><Relationship Type="http://schemas.openxmlformats.org/officeDocument/2006/relationships/slide" Target="/ppt/slides/slide24.xml" Id="Rddf819b6873a4cb2" /><Relationship Type="http://schemas.openxmlformats.org/officeDocument/2006/relationships/slide" Target="/ppt/slides/slide25.xml" Id="R32f8c0f438d346f3" /><Relationship Type="http://schemas.openxmlformats.org/officeDocument/2006/relationships/slide" Target="/ppt/slides/slide26.xml" Id="R00d1e6b5f46e4c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6a94547add4e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66d46f60947ee" /><Relationship Type="http://schemas.openxmlformats.org/officeDocument/2006/relationships/notesMaster" Target="/ppt/notesMasters/notesMaster1.xml" Id="R9f63ef2910bb49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a3955e59774222" /><Relationship Type="http://schemas.openxmlformats.org/officeDocument/2006/relationships/notesMaster" Target="/ppt/notesMasters/notesMaster1.xml" Id="Rc9355182d87345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f755c3202d48de" /><Relationship Type="http://schemas.openxmlformats.org/officeDocument/2006/relationships/notesMaster" Target="/ppt/notesMasters/notesMaster1.xml" Id="Rb7f8abeb64dd4c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f329efe30d4746" /><Relationship Type="http://schemas.openxmlformats.org/officeDocument/2006/relationships/notesMaster" Target="/ppt/notesMasters/notesMaster1.xml" Id="R49a1c4a749b54c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74fd4130584661" /><Relationship Type="http://schemas.openxmlformats.org/officeDocument/2006/relationships/notesMaster" Target="/ppt/notesMasters/notesMaster1.xml" Id="Rc516a076689943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2cc8891d7d4c00" /><Relationship Type="http://schemas.openxmlformats.org/officeDocument/2006/relationships/notesMaster" Target="/ppt/notesMasters/notesMaster1.xml" Id="R1eaba9a97e7644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8f879b410d4fe5" /><Relationship Type="http://schemas.openxmlformats.org/officeDocument/2006/relationships/notesMaster" Target="/ppt/notesMasters/notesMaster1.xml" Id="R45b54151b90040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fc3a079d164206" /><Relationship Type="http://schemas.openxmlformats.org/officeDocument/2006/relationships/notesMaster" Target="/ppt/notesMasters/notesMaster1.xml" Id="R7cac9c0974664a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2839acc71342a5" /><Relationship Type="http://schemas.openxmlformats.org/officeDocument/2006/relationships/notesMaster" Target="/ppt/notesMasters/notesMaster1.xml" Id="Rafaaf023d7ea4d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5da09ce24147a6" /><Relationship Type="http://schemas.openxmlformats.org/officeDocument/2006/relationships/notesMaster" Target="/ppt/notesMasters/notesMaster1.xml" Id="R14554f450b1f4c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25028bbbb54ffd" /><Relationship Type="http://schemas.openxmlformats.org/officeDocument/2006/relationships/notesMaster" Target="/ppt/notesMasters/notesMaster1.xml" Id="R5d47514104b54a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f56926d2de421e" /><Relationship Type="http://schemas.openxmlformats.org/officeDocument/2006/relationships/notesMaster" Target="/ppt/notesMasters/notesMaster1.xml" Id="Re427fbc7d71046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3a8bce6f37447b" /><Relationship Type="http://schemas.openxmlformats.org/officeDocument/2006/relationships/notesMaster" Target="/ppt/notesMasters/notesMaster1.xml" Id="R8379175edb3a41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541b4813bf4c31" /><Relationship Type="http://schemas.openxmlformats.org/officeDocument/2006/relationships/notesMaster" Target="/ppt/notesMasters/notesMaster1.xml" Id="R814096ee2b0744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a19370192c4a81" /><Relationship Type="http://schemas.openxmlformats.org/officeDocument/2006/relationships/notesMaster" Target="/ppt/notesMasters/notesMaster1.xml" Id="R18182d160a8c4a3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569fbcdf674acc" /><Relationship Type="http://schemas.openxmlformats.org/officeDocument/2006/relationships/notesMaster" Target="/ppt/notesMasters/notesMaster1.xml" Id="R7a5248d476d849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de7f91a2d7a4f57" /><Relationship Type="http://schemas.openxmlformats.org/officeDocument/2006/relationships/notesMaster" Target="/ppt/notesMasters/notesMaster1.xml" Id="R0dc9c5f6454e468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812a81f4584516" /><Relationship Type="http://schemas.openxmlformats.org/officeDocument/2006/relationships/notesMaster" Target="/ppt/notesMasters/notesMaster1.xml" Id="R8f0d061e46554ea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49fe46e57634a72" /><Relationship Type="http://schemas.openxmlformats.org/officeDocument/2006/relationships/notesMaster" Target="/ppt/notesMasters/notesMaster1.xml" Id="Rb221f053ffa244a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66bdb270bb4479" /><Relationship Type="http://schemas.openxmlformats.org/officeDocument/2006/relationships/notesMaster" Target="/ppt/notesMasters/notesMaster1.xml" Id="R6c0b136f15df42e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c5c318222924625" /><Relationship Type="http://schemas.openxmlformats.org/officeDocument/2006/relationships/notesMaster" Target="/ppt/notesMasters/notesMaster1.xml" Id="R7b2b14615e9b4cc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1f9a6709a6e4bb5" /><Relationship Type="http://schemas.openxmlformats.org/officeDocument/2006/relationships/notesMaster" Target="/ppt/notesMasters/notesMaster1.xml" Id="Rcc0805f8f34d497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7c897eebcc948c4" /><Relationship Type="http://schemas.openxmlformats.org/officeDocument/2006/relationships/notesMaster" Target="/ppt/notesMasters/notesMaster1.xml" Id="R2a7b11be71ac4ce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08c8a7a59274f39" /><Relationship Type="http://schemas.openxmlformats.org/officeDocument/2006/relationships/notesMaster" Target="/ppt/notesMasters/notesMaster1.xml" Id="Ra1448ca1c9aa479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18ac2549c694a79" /><Relationship Type="http://schemas.openxmlformats.org/officeDocument/2006/relationships/notesMaster" Target="/ppt/notesMasters/notesMaster1.xml" Id="R2a1faaa21ea54ad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d4766d985984394" /><Relationship Type="http://schemas.openxmlformats.org/officeDocument/2006/relationships/notesMaster" Target="/ppt/notesMasters/notesMaster1.xml" Id="R98f9d4f629174d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https://arxiv.org/abs/2609.21293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GameASG-Bench §§1, 2.3, 4.6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GameASG-Bench §2.2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GameASG-Bench §5.3 and cited primary works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GameASG-Bench §§2.1, 3.2, 3.3, Appendix 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GameASG-Bench Table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from GameASG-Bench §§2–3 and Appendix 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GameASG-Bench §4.1 and Appendix 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GameASG-Bench §2.2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GameASG-Bench §2.2 and Armor Alley tdd.md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repository tests/armor-alley/checks.json and paper §§2.3, 3.2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repository tests/armor-alley/checks.js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repository task/armor-alley/game-spec.md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Armor Alley tdd.md and tests/armor-alley/checks.js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repository tests/armor-alley/checks.js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repository tests/armor-alley/checks.js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repository tests/armor-alley/checks.js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GameASG-Bench Table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GameASG-Bench §2.3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GameASG-Bench §2.4 and Equation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GameASG-Bench Figure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GameASG-Bench Table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GameASG-Bench Table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GameASG-Bench Tables 5 and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GameASG-Bench Tables 7 and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GameASG-Bench Table 9, §4.6, Appendix A.1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d698d7f8c41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832c1b989d4884" /><Relationship Type="http://schemas.openxmlformats.org/officeDocument/2006/relationships/slideLayout" Target="/ppt/slideLayouts/slideLayout1.xml" Id="R5324b7a8141d40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24b7a8141d40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844b244c24886" /><Relationship Type="http://schemas.openxmlformats.org/officeDocument/2006/relationships/notesSlide" Target="/ppt/notesSlides/notesSlide1.xml" Id="R6204d6ce66f743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9a0d1e7224adb" /><Relationship Type="http://schemas.openxmlformats.org/officeDocument/2006/relationships/notesSlide" Target="/ppt/notesSlides/notesSlide2.xml" Id="R00d142ea60d74c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9b9ec4d2e40f4" /><Relationship Type="http://schemas.openxmlformats.org/officeDocument/2006/relationships/notesSlide" Target="/ppt/notesSlides/notesSlide3.xml" Id="Rfdfb88b4b28e45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3768a24934c29" /><Relationship Type="http://schemas.openxmlformats.org/officeDocument/2006/relationships/notesSlide" Target="/ppt/notesSlides/notesSlide4.xml" Id="Rc9b4e14c178343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b1f5d57be40cc" /><Relationship Type="http://schemas.openxmlformats.org/officeDocument/2006/relationships/notesSlide" Target="/ppt/notesSlides/notesSlide5.xml" Id="R1200173d55dd46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8507b4cf64b65" /><Relationship Type="http://schemas.openxmlformats.org/officeDocument/2006/relationships/image" Target="/ppt/media/image.png" Id="Rc9ea17be35b84edd" /><Relationship Type="http://schemas.openxmlformats.org/officeDocument/2006/relationships/notesSlide" Target="/ppt/notesSlides/notesSlide6.xml" Id="Rdaf49fad4ffa4b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8abb7c24846fb" /><Relationship Type="http://schemas.openxmlformats.org/officeDocument/2006/relationships/notesSlide" Target="/ppt/notesSlides/notesSlide7.xml" Id="R4d3c3ab144924d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ae4d572ee47be" /><Relationship Type="http://schemas.openxmlformats.org/officeDocument/2006/relationships/notesSlide" Target="/ppt/notesSlides/notesSlide8.xml" Id="R8817e7179ee34e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829e936a3496f" /><Relationship Type="http://schemas.openxmlformats.org/officeDocument/2006/relationships/notesSlide" Target="/ppt/notesSlides/notesSlide9.xml" Id="Ra12f9de3e91746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247978cbb41ea" /><Relationship Type="http://schemas.openxmlformats.org/officeDocument/2006/relationships/notesSlide" Target="/ppt/notesSlides/notesSlide10.xml" Id="R693b2adf4e5240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b3d20bff041eb" /><Relationship Type="http://schemas.openxmlformats.org/officeDocument/2006/relationships/notesSlide" Target="/ppt/notesSlides/notesSlide11.xml" Id="Rd7fefbe2cc4042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2225c47ef454c" /><Relationship Type="http://schemas.openxmlformats.org/officeDocument/2006/relationships/notesSlide" Target="/ppt/notesSlides/notesSlide12.xml" Id="Raf8d31b9b9804c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ef3d30e6f4f86" /><Relationship Type="http://schemas.openxmlformats.org/officeDocument/2006/relationships/notesSlide" Target="/ppt/notesSlides/notesSlide13.xml" Id="R151a5725a6664e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6305aab064e08" /><Relationship Type="http://schemas.openxmlformats.org/officeDocument/2006/relationships/notesSlide" Target="/ppt/notesSlides/notesSlide14.xml" Id="Rd245589650054a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5b2149c994429" /><Relationship Type="http://schemas.openxmlformats.org/officeDocument/2006/relationships/notesSlide" Target="/ppt/notesSlides/notesSlide15.xml" Id="R09987531193043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a7c7d0fed49d9" /><Relationship Type="http://schemas.openxmlformats.org/officeDocument/2006/relationships/notesSlide" Target="/ppt/notesSlides/notesSlide16.xml" Id="Rd13bb04d6927425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4743845b5490b" /><Relationship Type="http://schemas.openxmlformats.org/officeDocument/2006/relationships/notesSlide" Target="/ppt/notesSlides/notesSlide17.xml" Id="R384eb355e7f24c2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f21f823bd4211" /><Relationship Type="http://schemas.openxmlformats.org/officeDocument/2006/relationships/image" Target="/ppt/media/image2.png" Id="Rce86abb6f4ed4b8d" /><Relationship Type="http://schemas.openxmlformats.org/officeDocument/2006/relationships/notesSlide" Target="/ppt/notesSlides/notesSlide18.xml" Id="R718aecff562c4a4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aafb1969f43a1" /><Relationship Type="http://schemas.openxmlformats.org/officeDocument/2006/relationships/notesSlide" Target="/ppt/notesSlides/notesSlide19.xml" Id="R14d88f6638d64a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10ecd6f0840f1" /><Relationship Type="http://schemas.openxmlformats.org/officeDocument/2006/relationships/notesSlide" Target="/ppt/notesSlides/notesSlide20.xml" Id="R45a3530fa17246e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bdc20314b4e7f" /><Relationship Type="http://schemas.openxmlformats.org/officeDocument/2006/relationships/image" Target="/ppt/media/image3.png" Id="R53767d4da79040eb" /><Relationship Type="http://schemas.openxmlformats.org/officeDocument/2006/relationships/notesSlide" Target="/ppt/notesSlides/notesSlide21.xml" Id="R6924048252f04a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aff07cdbd417b" /><Relationship Type="http://schemas.openxmlformats.org/officeDocument/2006/relationships/image" Target="/ppt/media/image4.png" Id="R4c7d86945aff47da" /><Relationship Type="http://schemas.openxmlformats.org/officeDocument/2006/relationships/notesSlide" Target="/ppt/notesSlides/notesSlide22.xml" Id="R9df4d7e2b77e4e1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1ecda08ce4266" /><Relationship Type="http://schemas.openxmlformats.org/officeDocument/2006/relationships/image" Target="/ppt/media/image5.png" Id="R5e2ec9a7cc5542c2" /><Relationship Type="http://schemas.openxmlformats.org/officeDocument/2006/relationships/notesSlide" Target="/ppt/notesSlides/notesSlide23.xml" Id="Rc9f9b66787af4bc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bcf6e244947dd" /><Relationship Type="http://schemas.openxmlformats.org/officeDocument/2006/relationships/image" Target="/ppt/media/image6.png" Id="R0591c2122db74b4e" /><Relationship Type="http://schemas.openxmlformats.org/officeDocument/2006/relationships/image" Target="/ppt/media/image7.png" Id="Rfcddee81189e461b" /><Relationship Type="http://schemas.openxmlformats.org/officeDocument/2006/relationships/notesSlide" Target="/ppt/notesSlides/notesSlide24.xml" Id="R1f01ae85b39741d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5fcb4059f4554" /><Relationship Type="http://schemas.openxmlformats.org/officeDocument/2006/relationships/image" Target="/ppt/media/image8.png" Id="Rebc771e771e54796" /><Relationship Type="http://schemas.openxmlformats.org/officeDocument/2006/relationships/image" Target="/ppt/media/image9.png" Id="Rbd66e0f56c95474d" /><Relationship Type="http://schemas.openxmlformats.org/officeDocument/2006/relationships/notesSlide" Target="/ppt/notesSlides/notesSlide25.xml" Id="Rcf11b80d926e4ba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3a50ba69d4fbe" /><Relationship Type="http://schemas.openxmlformats.org/officeDocument/2006/relationships/image" Target="/ppt/media/image10.png" Id="Rf4def843cd5e4ce7" /><Relationship Type="http://schemas.openxmlformats.org/officeDocument/2006/relationships/notesSlide" Target="/ppt/notesSlides/notesSlide26.xml" Id="R8018f7ac25ed48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07CAA7-DD9F-4070-92CD-E8D203EF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13AFC-3E67-4AE7-9A4E-0EE66433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GAMEASG-BENCH · PAPER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BAD37-7433-44EE-A183-5879AF4F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如何验证一个游戏</a:t>
            </a:r>
          </a:p>
          <a:p xmlns:a="http://schemas.openxmlformats.org/drawingml/2006/main">
            <a:pPr algn="l">
              <a:defRPr sz="43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真的做完了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4A30D-AF22-4B59-8048-9DB86DC8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从人写规格与隐藏测试，到真实浏览器输入、严格成功率和可复现失败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B5802-EEEA-44C6-A4B2-1DD77475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38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30A1E-8D20-4357-A06B-8872EC8A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E97CF-51A4-422F-8EF8-384FB34E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完整游戏任务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8C944-FBB2-4776-908E-AF1DFC0E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95800"/>
            <a:ext cx="138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DA7A8-1492-4A4C-BB57-08AFFB1D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672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336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CBCAC-93B0-4222-A6D1-D2965803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01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L1 静态检查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E5C48-3C1D-4C9E-8E92-CEDC2F7D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95800"/>
            <a:ext cx="138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56CD9-186C-4739-A881-DE1F730B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672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885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9D3ED-EFA2-49FA-B9EB-4063A444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01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L2 行为检查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FA710-C46B-40C4-B2A7-C3D8577E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95800"/>
            <a:ext cx="138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7D20C-5D75-45F2-9D37-9BDAAF9B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672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55.3%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FAB80-DA7E-4CD2-8FE0-A5511F83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101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最佳严格成功率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D0654-05A5-414F-ACFF-0FF03981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3476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202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A1569-3C40-42A1-84CE-F09D9FCF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1925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SPEC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0ED46D-5772-40CA-8924-FFEBD8EE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00200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人类固定玩法契约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53C2F-0158-4B70-9686-BDF84B70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02D680-14F2-4150-B464-DC88BD89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81300"/>
            <a:ext cx="3476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202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61FA46-618E-4484-8D33-0148AE65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7180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BUILD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67A214-DA54-49D7-B264-D7C326BD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Agent 交付 index.html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61E780-E3E9-4343-A54F-F03E7E2A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338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8FE863-2098-411F-8445-AF5D084F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33850"/>
            <a:ext cx="3476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BE3"/>
          </a:solidFill>
          <a:ln xmlns:a="http://schemas.openxmlformats.org/drawingml/2006/main" w="19050">
            <a:solidFill>
              <a:srgbClr val="E86C3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A870F8-8B48-4C09-8208-840C5B8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2435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VERIFY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DEFCF9-DEB8-4933-A1A8-388768EA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隐藏测试验证行为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182A95-6A05-4947-BC20-3D466294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GameASG-Bench · arXiv:2609.21293</a:t>
            </a:r>
          </a:p>
        </p:txBody>
      </p:sp>
    </p:spTree>
    <p:extLst>
      <p:ext uri="{BB962C8B-B14F-4D97-AF65-F5344CB8AC3E}">
        <p14:creationId xmlns:p14="http://schemas.microsoft.com/office/powerpoint/2010/main" val="1454682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5A6919-DDE7-4B56-A48B-97B473C6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82D4B-1A11-43E7-BE76-4CF2D283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01 · 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A33F4-7CFA-47EB-959E-553086A0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页面能打开，不代表游戏完成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FDD98-7B81-4F5A-AF31-37FB3EBE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1189F-1837-4262-B5F7-2CD7EF6E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常见代理指标只能覆盖某一层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C4C9B-9006-47A5-B7B6-37D9D756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16FD8-F904-470E-816E-C5B636E7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02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8C21D-D968-4ECC-8C77-EC415019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5048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C245A-42FF-4018-83F3-7DA5E417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666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667"/>
          </a:solidFill>
          <a:ln xmlns:a="http://schemas.openxmlformats.org/drawingml/2006/main" w="0">
            <a:solidFill>
              <a:srgbClr val="36866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E2A06-0518-45C2-BC0B-0D3DBFF0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6859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686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68667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BD117-BC78-4946-8266-22E5C85A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成功加载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21FA6-AA3E-4C72-A067-3B4FACCC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14550"/>
            <a:ext cx="385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排除启动崩溃，无法证明交互和状态机。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1E4FE-C9D0-4502-8C6D-057C493B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476375"/>
            <a:ext cx="5048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C9329-4B9D-43D4-97BD-900CB1A7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476375"/>
            <a:ext cx="666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667"/>
          </a:solidFill>
          <a:ln xmlns:a="http://schemas.openxmlformats.org/drawingml/2006/main" w="0">
            <a:solidFill>
              <a:srgbClr val="36866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5EA04-0B8F-442B-AB06-80442BD2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859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686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68667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81526-9FCE-4867-B23B-D7DBC14F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6687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静态截图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9A81D-D671-48E3-A9EA-FD7CA054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14550"/>
            <a:ext cx="385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看得到一帧布局，无法证明控制、动画和终局。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CAC9A-5B1E-44A6-992F-2832EF69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5048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56208-5F4B-4C72-B009-F3E326FF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666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3AD0E-EB7B-467D-B6C4-8B8068E6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956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601808-5EF8-4043-8DE1-88996B10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766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源码关键词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0A02FD-B41A-42FE-8CC0-E05BBB11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24300"/>
            <a:ext cx="385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win、ammo、restart 也可能只在注释或空壳里。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1BCA3-B1D9-4B96-A8CD-49EA7C78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286125"/>
            <a:ext cx="5048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74589F-83CD-49D2-BAAE-07F18F7C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286125"/>
            <a:ext cx="666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2D3160-C8E4-437F-9BD4-FE174178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956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277906-E932-4872-AAC5-8A964574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766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Agent 自测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BD677C-2239-4527-BFB5-1289EA54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24300"/>
            <a:ext cx="385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可能只走接口捷径，漏掉真实输入和自然时间。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8B5031-67CA-424B-8491-9BE843E7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7685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完整游戏把输入、状态、渲染、资源与终局连成一条因果链。评测需要沿着这条链执行。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60F87A-2730-41A3-831B-A867C82B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论文 §1、§2.3、§4.6</a:t>
            </a:r>
          </a:p>
        </p:txBody>
      </p:sp>
    </p:spTree>
    <p:extLst>
      <p:ext uri="{BB962C8B-B14F-4D97-AF65-F5344CB8AC3E}">
        <p14:creationId xmlns:p14="http://schemas.microsoft.com/office/powerpoint/2010/main" val="1143974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A2935-C301-448C-A608-4A841B04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AF1B3-BA3D-4841-87C8-916A4970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02 · THE ORACLE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12203-6863-4F9E-B1AF-B638EED3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罕见状态要可达，测试又不能绑死实现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5983F-1EC4-4B3A-97D5-00671902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8449F-4B27-4E42-908B-4A9F2B86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可复现性与实现自由度之间的张力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35CE9-2FA7-48C1-A8F7-7434D1EA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B4DFC-62C0-4A35-B387-C574BB8F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03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A195B-88BE-4024-AAA2-33C6F2F1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2862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3830C-328F-49C8-BE91-BFB764E5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286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C93"/>
          </a:solidFill>
          <a:ln xmlns:a="http://schemas.openxmlformats.org/drawingml/2006/main" w="0">
            <a:solidFill>
              <a:srgbClr val="858C9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7DCD6-6FD3-4C21-B81F-8688D74B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只用 GUI 慢慢玩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D22B1-06BD-4F39-9067-ECE1BFE4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39433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后期状态耗时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碰撞与时序容易漂移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失败难以定位到单条需求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16B20-128A-494E-9ACF-7A256D3D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622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61F4F-33CC-44C1-927D-12DF60CB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24000"/>
            <a:ext cx="42862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149B6-E773-4EAF-B049-D9FF5FAB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24000"/>
            <a:ext cx="4286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176D69-4523-4114-8620-FF62EC93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直接改内部状态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DE97C-7F8C-480D-A4EE-210C693F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52650"/>
            <a:ext cx="39433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依赖对象名和数据结构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同一测试难以跨实现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可能绕过真正的玩法路径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E4C65-06BD-4022-9724-0A46B16D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676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C"/>
          </a:solidFill>
          <a:ln xmlns:a="http://schemas.openxmlformats.org/drawingml/2006/main" w="0">
            <a:solidFill>
              <a:srgbClr val="1E252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A198BF-DC1B-4B1F-8884-52D2674B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81625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legal scenario  +  player action  +  stable snapshot  +  invariant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CA409-23FD-4E92-9763-C4AF7AB4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论文 §2.2</a:t>
            </a:r>
          </a:p>
        </p:txBody>
      </p:sp>
    </p:spTree>
    <p:extLst>
      <p:ext uri="{BB962C8B-B14F-4D97-AF65-F5344CB8AC3E}">
        <p14:creationId xmlns:p14="http://schemas.microsoft.com/office/powerpoint/2010/main" val="592608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6829DA-E20B-4283-B66F-B311BEF6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42CBF-E5CA-4E76-BF72-97FE1D82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03 · RELATED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74D91-6AE2-4E3D-8394-5FB52A83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任务更长只是表象，差别在状态准备和证据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01902-7E8E-4E72-8A2A-614FB472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182E5-4604-4A68-A19D-BB6C4D71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生成前固定规格与检查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790C1-F41F-4C74-B3AF-96F6008C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9E49C-7E48-4446-A69B-2780EE8D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04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2628E-5A41-4D91-ADD7-50C672E5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工作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C90E9-55B5-40D6-828B-DCF741A0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811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产物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65D38-C55D-42D0-9F2E-09F5165D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8112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状态准备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ED656-A6A6-4846-84F6-4CB2B863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运行证据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D37F4-3A7F-42CA-873D-55FE0CD1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评价方式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A07E6-F88C-499A-A68B-2826237C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APPS / EvalPlus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A5A87-5467-4FFA-AE54-F938A6E0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145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函数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3596F-09FB-406F-8DB4-71C1C9A2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输入样例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5D03D-5C5B-48AE-A88C-A15097AB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返回值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4B843-6C14-4886-8095-41127DD5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预定义测试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2F36A-B445-48ED-A575-1D542426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SWE-bench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C6287-29F3-4A7F-AD07-D5727726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050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仓库修改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C05590-1446-45CF-A4B4-4CFBE519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仓库与 issue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5A00B-C8AC-448F-A885-6A8A3880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项目测试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59C6B-5DC4-40F1-99E6-EA88FFAD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已有套件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03787-E714-4D6B-A89C-89D98198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WebGameBench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F30C1-15B6-4897-B0A3-653111B4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956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浏览器游戏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2318BF-24D6-4767-833F-3F238BB0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候选状态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A1F7FA-3669-4471-91D8-69A4FD86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真实浏览器交互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75FDE5-CB94-451C-A747-A341804E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规格引导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C2D1B0-3172-4A07-AD39-43B71179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GameCraft-Bench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F120E9-BE83-438E-B03C-AD6D4A6C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Godot 项目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B19527-5CA5-4C78-BE91-62638F14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可回放演示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779EB8-39D7-4036-9F65-508F532A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回放与多模态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DDB005-31E7-4BB4-B042-D630A364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8615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隐藏 rubric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9C62A5-1CDD-47E7-8506-24554FEF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GameGen-Verifier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C7429F-2E42-491B-B91E-05019A05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767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生成游戏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1C44FB-E9EA-43B7-A77D-6CEBF82B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7670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运行时注入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05FA6C-6617-415F-9DC2-B05B7C6C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7670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前置、交互、后置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7AA6E4-EEC5-4C0C-8DA6-B373CC8B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7670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抽取 keypoint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0EC49C-3CAA-4836-A529-67647095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GameXpert-Bench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78D908-A512-4EF0-90EC-5155947B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672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生成与修复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572177-E12D-4D3F-A4B1-130A051D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生成后事件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D92AE1-A188-4442-81A2-81B05A3D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代码与现场交互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0F7969-25B5-475A-A28C-9883C518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人工审核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85D4E5-7ED0-4E24-B880-AC729261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733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GameASG-Bench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89C959-6EB6-45DE-9AA8-A486A2BC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57800"/>
            <a:ext cx="1543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单页浏览器游戏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54B16D-7C44-40DA-8ED4-2F159B1C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57800"/>
            <a:ext cx="1638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预先声明合法场景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938EF1-E0A0-4719-8A95-84FD78BF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2114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快照、真实输入、浏览器信号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7DDD23-7DE7-463D-999B-662A4B64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57800"/>
            <a:ext cx="1828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生成前固定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F996F8-FE48-41FE-8E34-1445330F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论文 §5.3；WebGameBench arXiv:2605.17637；GameCraft-Bench arXiv:2606.17861；GameGen-Verifier arXiv:2605.07442；GameXpert-Bench arXiv:2608.21833</a:t>
            </a:r>
          </a:p>
        </p:txBody>
      </p:sp>
    </p:spTree>
    <p:extLst>
      <p:ext uri="{BB962C8B-B14F-4D97-AF65-F5344CB8AC3E}">
        <p14:creationId xmlns:p14="http://schemas.microsoft.com/office/powerpoint/2010/main" val="5532056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AE6705-414A-4383-B53E-9167AD9F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5F048-1807-49AD-9BE8-4DC08B00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04 · AUTHORSHIP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5C1AE-34B1-44A3-9B2D-A737E52F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checks.json 和 checks.js 的来源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6B239-03AC-4980-9B92-D5596C47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6C19E-7050-43A2-86B7-55E0D6C2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人类写规格、检查与优先级，Agent 写游戏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CB221-FD5A-4985-B18B-9146C75A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CD038-46AC-4566-91D0-BB080D45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05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2C143-3ED0-4CB9-ADA4-B89BDD8D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2038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文件或产物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CB7F8-5E87-4083-A08A-0F19306A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81125"/>
            <a:ext cx="2162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作者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2EB0F-1E3E-4177-954B-B09B0911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1828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Agent 可见性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B3B48-A274-4D1D-BD4E-FD2A460F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81125"/>
            <a:ext cx="43910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6715F-E573-4479-8954-EB3987D1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target.md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3D192-14F0-41CB-B106-7712B654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47DED-2802-4B85-AADE-6C282661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52600"/>
            <a:ext cx="2162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人类开发者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FA614-9F9B-432E-BBFD-F3DD3249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52600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可见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7DC45-D8EE-4C29-A3FF-92A9CF23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52600"/>
            <a:ext cx="4391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交付协议与玩法简介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F3A23-578E-4E67-89A3-0E204B5F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game-spec.md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0C5D7-2C6F-4C19-A521-FD5C8C52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46398-76A5-413C-8C81-0AECE135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2162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人类开发者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8F78E4-FB22-432C-966E-32D4C464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可见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62FCCE-F48C-4EB9-A89A-1BB317A4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33625"/>
            <a:ext cx="4391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机制、反馈与可玩循环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EACACC-04B0-4B96-B7C2-3EB3B8F3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tdd.md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3361B-BD63-4285-8CDE-A7C98515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008C4C-5E83-43E3-B1BC-7261102F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14650"/>
            <a:ext cx="2162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人类开发者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A72EB8-2548-4EB6-89C2-3378956C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14650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可见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61AEF-56C2-4E59-B367-119CFAB9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14650"/>
            <a:ext cx="4391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场景、动作、快照、不变量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294A0A-75E0-4EF5-A2DE-801E95ED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checks.json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5E8B40-2327-4CC6-9C08-68F33960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1BA506-785D-4C9A-93E0-F3CC87D6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95675"/>
            <a:ext cx="2162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人类开发者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0757A4-9549-4B2C-A870-147D65A1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95675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隐藏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EBDC7F-DA06-437B-BA8B-8B8B7D6D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95675"/>
            <a:ext cx="4391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L1 静态检查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691E08-A1CB-4C35-9C97-506467B6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checks.js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720CF4-CE6E-4B15-930E-3B5EBD68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5814D2-D74C-44B9-87A5-CA59DA15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76700"/>
            <a:ext cx="2162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人类开发者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79281C-3B34-4D22-9AC6-A40CAE8F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76700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隐藏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D3AC71-13C2-487B-9F6B-3D9E6C49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76700"/>
            <a:ext cx="4391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L2 浏览器行为检查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393CD0-9797-4348-ADE1-CB360BB6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57725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参考实现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D2BAD6-DDD4-476B-BE9F-0B275E48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57725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34A4D6-7B2E-4810-9AB4-A4D0A2B7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57725"/>
            <a:ext cx="2162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benchmark 团队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954C0B-A92F-40B5-BC57-F50AF641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57725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隐藏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F8B090-C034-453C-8B9C-F0210A9A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57725"/>
            <a:ext cx="4391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人工验证后的正控制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66C581-7047-4F5D-A3A3-3CB7E561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index.html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DC13CC-B99A-4A92-AF52-004DAF0D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092ACC-DA90-4C1D-B121-092EBA9F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38750"/>
            <a:ext cx="2162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Coding Agent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11AB30-39FE-4180-9608-D3951B1B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38750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生成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8B2E33-A0D4-400F-9383-BBF62BC6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4391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最终交付物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688A10-867E-4A27-BC2B-F0F7324C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论文 §2.1、§3.2、§3.3、附录 B</a:t>
            </a:r>
          </a:p>
        </p:txBody>
      </p:sp>
    </p:spTree>
    <p:extLst>
      <p:ext uri="{BB962C8B-B14F-4D97-AF65-F5344CB8AC3E}">
        <p14:creationId xmlns:p14="http://schemas.microsoft.com/office/powerpoint/2010/main" val="8960264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480F5-AD7B-452B-BD1E-AF024334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C7B80-D08C-43C2-89CC-F9756A97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05 · ORIGINAL TABLE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87BC8-7563-45FD-A8D5-CDC4A4B0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Agent 知道要实现什么，也知道测试接口语义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E6685-D4A5-4644-86A4-3C091692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4A741-0B9B-41C5-BFE8-A23F50BA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三份公开任务文档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0AD08-1E8E-4939-8E73-4106EFEC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68642-4F00-4F8E-82DE-BABBCFD5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06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657EF-C9E8-45BA-9C20-6E7FFDA0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9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a17be35b84edd"/>
          <a:stretch xmlns:a="http://schemas.openxmlformats.org/drawingml/2006/main"/>
        </p:blipFill>
        <p:spPr>
          <a:xfrm xmlns:a="http://schemas.openxmlformats.org/drawingml/2006/main">
            <a:off x="838200" y="2058220"/>
            <a:ext cx="10515600" cy="264631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8DC64-C824-4BA5-8220-79215B52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原论文 Table 1。三份文档都在 Agent 工作区。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69420-51F9-4DEA-8592-D77152A0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Source: GameASG-Bench Table 1</a:t>
            </a:r>
          </a:p>
        </p:txBody>
      </p:sp>
    </p:spTree>
    <p:extLst>
      <p:ext uri="{BB962C8B-B14F-4D97-AF65-F5344CB8AC3E}">
        <p14:creationId xmlns:p14="http://schemas.microsoft.com/office/powerpoint/2010/main" val="7973878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1599B8-8BDE-43AF-BF0E-4078BCD6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24759-E888-4BF0-BFC1-4D32B078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06 · BENCHMARK 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550D7-7A89-47D5-A47F-37D12412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根据论文第 2、3 节与附录 B 重绘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784C9-9D9D-48BB-9057-6FA7AFD5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632A0-D728-44A8-B747-F3962F26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测试在模型生成前就已经固定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27D87-CF70-41A8-8CD7-3857E3E2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0BC0B-14ED-44D6-B825-7C0FC6E3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07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BC3B2-499A-4E13-AFFB-76AD7B1D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6859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96272-D438-4561-978A-6CD0EC05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6859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AD907-72AD-43BC-833F-C8E13896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BD2AB-431C-41C9-A070-37D80F1B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人工选题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F5C4A-BF56-4B1F-95BD-E690F2AD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38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完整循环，可在浏览器内观察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338CF-06EE-4FCA-9B1A-ABC036C1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19375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B02B0-FDB4-43C7-A724-D311C580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09750"/>
            <a:ext cx="16859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114E2-4306-46F7-88B5-89E7EA35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09750"/>
            <a:ext cx="16859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DBE68-7E9C-47DE-BC79-900EFE00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4787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93414-E312-482F-A5DF-8BF8E753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4317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公开规格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A335E-FE2E-4DE7-A6E5-2451CEF0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05150"/>
            <a:ext cx="138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target、game spec、TDD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626A1-AC99-4B31-8805-E23E163D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19375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AAFF5-1E0D-4389-8374-3CA034E8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16859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00824-CAA9-4065-8EF4-D21FA28B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16859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907F72-26D3-4935-860C-BB11C501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4787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360C7-D25C-4F3B-97F9-EBA5C9C7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4317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隐藏检查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6F1DE-1DCD-4F0F-80BF-2C51D4F5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05150"/>
            <a:ext cx="138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checks.json、checks.js、优先级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A7EEC-785F-4F2C-BEB3-C1615DD6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619375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22DCB2-69BD-4690-88B3-E0019E56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16859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A74567-4D5A-4D69-B8FC-ACFDB57A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16859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8CE76F-0D28-4E0E-BF49-51E32340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B1CB68-D44E-4265-BF26-236975B9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参考实现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D2C9B5-5AC3-4716-A147-538423ED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138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人工操作并跑自动验收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90B3F3-3E7D-4619-96E6-13418865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19375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149189-4DA8-45F0-B86E-FF6C01C6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16859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BA5C02-48C4-4E7C-A5CB-D11534F7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16859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315D03-D2DD-452A-B117-4D7806BA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4787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D057DC-6BFB-45C1-B028-17A22ECD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4317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Agent 生成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987102-F134-421C-BF2F-80517978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138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干净工作区与新会话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7AC6BA-978E-443E-85C8-BC573D88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619375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F86F2D-CBA8-4CEF-B7B9-3AED7E60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09750"/>
            <a:ext cx="16859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14A99A-35CB-4A93-915F-8008B7E6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09750"/>
            <a:ext cx="16859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3508D9-0273-42EE-BB21-F9F40BF5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4787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7E284C-D3E0-4954-B207-9AE8201C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4317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独立评测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96F67A-DBBA-4500-BC11-2C0D1352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05150"/>
            <a:ext cx="138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预检、L1、L2、严格计分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9BFADC-CCE0-4D23-92DF-DD74443D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24375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9525">
            <a:solidFill>
              <a:srgbClr val="36866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80ACC2-B288-4502-9DA5-7AAD9123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958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47 个参考实现全部通过所有 L1 和适用的 L2 P0/P1。它们用于验证测试能接受人工确认合格的实现。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A595C3-BFDD-4543-BE2C-F0A3AB44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本页为二次重绘，不是论文原图。来源：论文 §2.1、§3.1 至 §3.3、§4.1、附录 B</a:t>
            </a:r>
          </a:p>
        </p:txBody>
      </p:sp>
    </p:spTree>
    <p:extLst>
      <p:ext uri="{BB962C8B-B14F-4D97-AF65-F5344CB8AC3E}">
        <p14:creationId xmlns:p14="http://schemas.microsoft.com/office/powerpoint/2010/main" val="1618905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F76C6-F2B4-4294-8DB8-74BB8B16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F8C38-F2E7-41E3-93A0-04A1A816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07 · EXECUTION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277E2-F310-4927-B076-27E9522A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生成容器与评测容器隔离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059C8-D2F1-41D6-A52A-EA962706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EFBCB-5828-4FC1-AF3F-D0C76300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Agent 看得到契约，看不到可执行检查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07BFE-29A7-4EBF-8FBF-15FCE0C8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1A4CC-322A-4DD4-8A73-150C3CAA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08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A4153-CB67-490E-93F4-4DAC1E0D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4476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E8170-CEBF-4ADE-B759-F09BC93A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447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D3F73-2998-4C8E-BB01-9C86F4BF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3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生成容器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6B206-320E-4781-A194-D7AF75C9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41338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只读：target.md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只读：game-spec.md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只读：tdd.md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可写：workspace/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每次使用原始任务文件与新会话。checks 和 runner 不挂载。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387CA-04FC-496F-AEB5-45223F35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57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0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0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70F3E-43B1-45E7-8760-A7585C52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24000"/>
            <a:ext cx="4476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723FE-B8A6-4B4F-86CB-4EE870A1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24000"/>
            <a:ext cx="447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6507D-87CC-4AD7-BF39-4E1D8987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14500"/>
            <a:ext cx="413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评测容器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A6F3A-3A0B-42B0-954B-EE0EEF59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52650"/>
            <a:ext cx="41338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只读：index.html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只读：checks.json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只读：checks.js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只读：runners/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先做 delivery preflight，再执行 L1、L2 和严格计分。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50C6C-0623-467A-9A21-C2EA2387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论文 §4.1、附录 B。预检要求成功退出、常规非 symlink 文件、非空且含 &lt;/html&gt;</a:t>
            </a:r>
          </a:p>
        </p:txBody>
      </p:sp>
    </p:spTree>
    <p:extLst>
      <p:ext uri="{BB962C8B-B14F-4D97-AF65-F5344CB8AC3E}">
        <p14:creationId xmlns:p14="http://schemas.microsoft.com/office/powerpoint/2010/main" val="2915859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37CC79-5BC2-45D2-A39B-7B4A485C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42CE6-74CF-40BE-8549-51797900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08 · PUBLIC TEST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70ED2-0C21-44D4-BC3A-4B617784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同一入口，任务特定语义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823D0-D992-4F46-87DE-F00BFB7F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222D4-FF68-4E24-B0E6-3561718B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四个方法连接测试和真实游戏状态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37FE5-309B-4B19-8795-D8972494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9B4A4-DF36-48D1-9E86-DADA75AA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09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48A76-BAEC-434D-AAA3-4DE044AA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4476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C"/>
          </a:solidFill>
          <a:ln xmlns:a="http://schemas.openxmlformats.org/drawingml/2006/main" w="0">
            <a:solidFill>
              <a:srgbClr val="1E252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5E962-AD0E-471F-8214-5EE8C2DF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57375"/>
            <a:ext cx="3905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window.__gameTest = {</a:t>
            </a:r>
          </a:p>
          <a:p xmlns:a="http://schemas.openxmlformats.org/drawingml/2006/main">
            <a:pPr algn="l">
              <a:defRPr sz="15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reset(options),</a:t>
            </a:r>
          </a:p>
          <a:p xmlns:a="http://schemas.openxmlformats.org/drawingml/2006/main">
            <a:pPr algn="l">
              <a:defRPr sz="15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loadScenario(name, options),</a:t>
            </a:r>
          </a:p>
          <a:p xmlns:a="http://schemas.openxmlformats.org/drawingml/2006/main">
            <a:pPr algn="l">
              <a:defRPr sz="15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input(action),</a:t>
            </a:r>
          </a:p>
          <a:p xmlns:a="http://schemas.openxmlformats.org/drawingml/2006/main">
            <a:pPr algn="l">
              <a:defRPr sz="15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getSnapshot()</a:t>
            </a:r>
          </a:p>
          <a:p xmlns:a="http://schemas.openxmlformats.org/drawingml/2006/main">
            <a:pPr algn="l">
              <a:defRPr sz="15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// JSON 可序列化</a:t>
            </a:r>
          </a:p>
          <a:p xmlns:a="http://schemas.openxmlformats.org/drawingml/2006/main">
            <a:pPr algn="l">
              <a:defRPr sz="15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// 状态必须驱动画面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A81E5-30F1-4536-BDDE-7A1CBC8F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76375"/>
            <a:ext cx="54768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1B3CE-C431-435B-B491-5E7FB6A5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76375"/>
            <a:ext cx="547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3054C-8429-4BF6-BD84-B11EC3EE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66875"/>
            <a:ext cx="5133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reset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38ACF-BBF1-48DE-8494-290369CC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05025"/>
            <a:ext cx="51339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清除上一局临时状态、弹窗和结果锁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3A079-F291-43C4-8710-805C843F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05075"/>
            <a:ext cx="54768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2B02E-AF5C-47CD-90F3-A045C882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05075"/>
            <a:ext cx="547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8A8F0-FF21-40F0-AA26-87B31800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95575"/>
            <a:ext cx="5133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loadScenario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D17B3-6B23-44A7-AA44-B699AC66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33725"/>
            <a:ext cx="51339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准备正常游玩可达的起点，不制造结果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15EAC-E746-4415-ABEB-EDFFC786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33775"/>
            <a:ext cx="54768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6E4AB6-D111-465F-85DC-4C8E0260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33775"/>
            <a:ext cx="547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667"/>
          </a:solidFill>
          <a:ln xmlns:a="http://schemas.openxmlformats.org/drawingml/2006/main" w="0">
            <a:solidFill>
              <a:srgbClr val="36866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A5D44-E975-4606-B224-7440FB6B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24275"/>
            <a:ext cx="5133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input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F6433-443B-4E6B-8263-2C688AE8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62425"/>
            <a:ext cx="51339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执行下单、暂停、选择目标等语义动作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5D1679-F994-4D3D-9C69-05AE46D8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62475"/>
            <a:ext cx="54768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26102-4F82-4D2F-BC5F-D9969812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62475"/>
            <a:ext cx="547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E85"/>
          </a:solidFill>
          <a:ln xmlns:a="http://schemas.openxmlformats.org/drawingml/2006/main" w="0">
            <a:solidFill>
              <a:srgbClr val="777E8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FC2FBA-81BB-4234-BB6E-6D5D4001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52975"/>
            <a:ext cx="5133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getSnapshot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29D18-4953-420D-B705-090FF8AF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91125"/>
            <a:ext cx="51339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返回稳定语义摘要，不暴露私有对象图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B799D-672C-44E6-8381-C44A5AC9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论文 §2.2</a:t>
            </a:r>
          </a:p>
        </p:txBody>
      </p:sp>
    </p:spTree>
    <p:extLst>
      <p:ext uri="{BB962C8B-B14F-4D97-AF65-F5344CB8AC3E}">
        <p14:creationId xmlns:p14="http://schemas.microsoft.com/office/powerpoint/2010/main" val="8287253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65152C-9485-42B0-A19A-99ED88C8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0D728-24DC-4CEA-9ADD-85D870C0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09 · PREPARE, ACT, OBSERVE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BF383-AE1A-4043-AB4F-4FC94889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罕见状态可达，因果链仍保留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E2792-844F-42B2-AEBC-1A6F439E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F4D5C-0D67-40A4-B99E-4B039307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场景只准备条件，玩家动作负责触发结果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32C8D-4A3E-47F1-81AA-597EE2C6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EEF81-88BC-4D31-959F-8BA944BD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10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CEA1E-450E-4C9B-AD1A-24E17A4F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32861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2DF9D-7E4F-4C35-9BD4-B2B4687F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3286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667"/>
          </a:solidFill>
          <a:ln xmlns:a="http://schemas.openxmlformats.org/drawingml/2006/main" w="0">
            <a:solidFill>
              <a:srgbClr val="36866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72C23-99EC-4F4C-9A18-E6C50C3C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038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86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68667"/>
                </a:solidFill>
                <a:latin typeface="Arial Unicode MS"/>
                <a:ea typeface="Arial Unicode MS"/>
                <a:cs typeface="Arial Unicode MS"/>
              </a:rPr>
              <a:t>PREPARE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EC9AE-2F44-4CF4-831B-2FD3A74D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57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合法前置状态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D6B54-EA7F-4093-BD64-AABB3193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480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调整资源和位置，初始快照仍然安全、非终局。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1803F-808A-4347-82C8-60789F89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5C795-791A-40B0-88F9-82EEF19E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32861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CF785-7C84-4B78-A5C1-E733E297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3286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20852-C5B9-4FC1-92DF-F84D26A3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38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22E1A-FEE9-470E-AF85-2317B77D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玩家级动作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ECC71-C9E2-421F-A0EB-BFC4AF75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调用语义动作，或发送真实鼠标、键盘与触摸。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FB8177-DFAC-4A6B-BE44-FB0E6561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57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6EDE8-A2AF-44EA-ACFE-ED0ABEA2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62125"/>
            <a:ext cx="32861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F985B-C0A4-4715-817F-83ABDF12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62125"/>
            <a:ext cx="3286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8952C-E2AD-4402-A449-9C9CA7BB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038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E86C36"/>
                </a:solidFill>
                <a:latin typeface="Arial Unicode MS"/>
                <a:ea typeface="Arial Unicode MS"/>
                <a:cs typeface="Arial Unicode MS"/>
              </a:rPr>
              <a:t>OBSERVE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9CBF9E-7BD3-4067-B8EF-19E0D13E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457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结果与不变量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54C3BD-FBE4-4BD3-B623-0CD91E37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0480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检查结果、资源、HUD、render revision 和无关状态。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6F8B3B-C4D0-4B09-B4E0-15DD3023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BE3"/>
          </a:solidFill>
          <a:ln xmlns:a="http://schemas.openxmlformats.org/drawingml/2006/main" w="9525">
            <a:solidFill>
              <a:srgbClr val="B6463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797957-2DC8-43D4-8208-2615B3D0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720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禁止直接写胜负、血量或坐标来伪造结果，也不能维护一套和画面分叉的测试状态。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E60520-A6F5-4EA0-9ABD-71E563BA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论文 §2.2；Armor Alley tdd.md 的 scenario setup 与 interface integrity 约束</a:t>
            </a:r>
          </a:p>
        </p:txBody>
      </p:sp>
    </p:spTree>
    <p:extLst>
      <p:ext uri="{BB962C8B-B14F-4D97-AF65-F5344CB8AC3E}">
        <p14:creationId xmlns:p14="http://schemas.microsoft.com/office/powerpoint/2010/main" val="16284128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A1A74-607E-4D50-ACE3-5B701913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82674-A1A6-4A89-B726-CC727393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10 · REAL CHECKS.JSON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8E54B-DC03-475F-863B-DAA10712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Armor Alley 的真实 L1 条目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2B60B-2649-44C3-BFF7-862FD64A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AEE1F-29EF-4BF9-8BCC-933F272B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静态层先确认契约外壳存在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2CB4E-6ECD-45D8-A728-FC31890F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1C6E0-71AD-4AFC-BE31-81FA3A26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11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122B1-8BCA-4EBC-A419-CFEB8232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C"/>
          </a:solidFill>
          <a:ln xmlns:a="http://schemas.openxmlformats.org/drawingml/2006/main" w="0">
            <a:solidFill>
              <a:srgbClr val="1E252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A4EFF-30E5-4798-A7BC-E6C4E998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85925"/>
            <a:ext cx="60769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{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"id": "p0-contract-methods-reset-input-snapshot",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"level": "P0",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"type": "regex_all",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"patterns": [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  "... reset ...",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  "... input ...",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  "... getSnapshot ...",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  "... loadScenario ..."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],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"fix_hint":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  "Define reset, loadScenario, input, and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   getSnapshot on window.__gameTest."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10429-ED81-45EA-8766-E3F2A12B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762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B1A63-5CDF-4201-B4A8-DFBC332C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762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3353F-3796-4C0D-A48C-6D957AFB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人工编写并隐藏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8D767-DF53-4ACC-9C6A-83ED09FD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41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生成开始前已经固定。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892AF-2006-41D5-A61C-6E0ED272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05125"/>
            <a:ext cx="3762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C94D9-5AA4-444B-BB31-3942D8AE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05125"/>
            <a:ext cx="3762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0DAB5-1C59-4C14-983D-E5E7D998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95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允许多种 JavaScript 写法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68DF8-6612-4535-A316-381937FC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33775"/>
            <a:ext cx="341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真实正则覆盖属性赋值、方法定义和 Object.assign。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7829F-503E-4878-9A0B-2BE4F0DD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86250"/>
            <a:ext cx="3762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B2378-52BD-40C3-B9E3-86C2EED5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86250"/>
            <a:ext cx="3762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667"/>
          </a:solidFill>
          <a:ln xmlns:a="http://schemas.openxmlformats.org/drawingml/2006/main" w="0">
            <a:solidFill>
              <a:srgbClr val="36866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BCDB3-9BD6-4CBE-A13E-A549A2A8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证据上限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0ACCB7-D923-4179-893C-7BCD6CEA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14900"/>
            <a:ext cx="341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正则可能匹配注释。L1 不证明玩法正确。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50EF8-4581-4E97-8E28-5E26AAF8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官方仓库 tests/armor-alley/checks.json；论文 §2.3、§3.2</a:t>
            </a:r>
          </a:p>
        </p:txBody>
      </p:sp>
    </p:spTree>
    <p:extLst>
      <p:ext uri="{BB962C8B-B14F-4D97-AF65-F5344CB8AC3E}">
        <p14:creationId xmlns:p14="http://schemas.microsoft.com/office/powerpoint/2010/main" val="20851510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11132-ECE7-4E03-A98D-E8629F12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2B80A-6EEE-4B7F-94B8-8FD73006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11 · REAL CHECKS.JS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B070C-8BE8-4BDA-93BB-566AA38E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一条检查说明输入、观察与空壳失败原因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64F6E-4FCF-4BC3-B3E0-5DE86BC2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7982B-BAAF-452F-892F-49726674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每道题的人类作者把玩法写成 JavaScript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53AFE-24D3-4FFC-B442-CA49B7BB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BF836-3F4B-4479-B282-93CB4523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12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6C949-E641-4703-9365-4419E6E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8102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C"/>
          </a:solidFill>
          <a:ln xmlns:a="http://schemas.openxmlformats.org/drawingml/2006/main" w="0">
            <a:solidFill>
              <a:srgbClr val="1E252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DA7A5-5869-4FCF-A94D-A065DA69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62125"/>
            <a:ext cx="5238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// GDD Coverage Map</a:t>
            </a:r>
          </a:p>
          <a:p xmlns:a="http://schemas.openxmlformats.org/drawingml/2006/main">
            <a:pPr algn="l">
              <a:def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M3 weapons</a:t>
            </a:r>
          </a:p>
          <a:p xmlns:a="http://schemas.openxmlformats.org/drawingml/2006/main">
            <a:pPr algn="l">
              <a:def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-&gt; p1-keyboard-sustained-fire-release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// Rationality Map</a:t>
            </a:r>
          </a:p>
          <a:p xmlns:a="http://schemas.openxmlformats.org/drawingml/2006/main">
            <a:pPr algn="l">
              <a:def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real action:</a:t>
            </a:r>
          </a:p>
          <a:p xmlns:a="http://schemas.openxmlformats.org/drawingml/2006/main">
            <a:pPr algn="l">
              <a:def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browser.keyDown / browser.keyUp</a:t>
            </a:r>
          </a:p>
          <a:p xmlns:a="http://schemas.openxmlformats.org/drawingml/2006/main">
            <a:pPr algn="l">
              <a:def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independent observation:</a:t>
            </a:r>
          </a:p>
          <a:p xmlns:a="http://schemas.openxmlformats.org/drawingml/2006/main">
            <a:pPr algn="l">
              <a:def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ammo / projectile / combat revision</a:t>
            </a:r>
          </a:p>
          <a:p xmlns:a="http://schemas.openxmlformats.org/drawingml/2006/main">
            <a:pPr algn="l">
              <a:def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empty-shell failure:</a:t>
            </a:r>
          </a:p>
          <a:p xmlns:a="http://schemas.openxmlformats.org/drawingml/2006/main">
            <a:pPr algn="l">
              <a:def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fire flag without projectile, cost,</a:t>
            </a:r>
          </a:p>
          <a:p xmlns:a="http://schemas.openxmlformats.org/drawingml/2006/main">
            <a:pPr algn="l">
              <a:def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or release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23210-FD38-4AFC-9D39-082849F8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1450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Armor Alley 的 checks.js 有 814 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071C7-2AC9-4D90-A732-78D9197A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76500"/>
            <a:ext cx="4333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覆盖启动、飞行、武器与落地补给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覆盖生产、地面战争、雷达和终局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真实输入与 contract 输入按检查目的组合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每条检查返回 PASS、FAIL 或 NOT_APPLICABLE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866E8-DDB8-4F46-A038-A00E5362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官方仓库 tests/armor-alley/checks.js。行数按 2026-09-21 获取的 main 分支文件计算</a:t>
            </a:r>
          </a:p>
        </p:txBody>
      </p:sp>
    </p:spTree>
    <p:extLst>
      <p:ext uri="{BB962C8B-B14F-4D97-AF65-F5344CB8AC3E}">
        <p14:creationId xmlns:p14="http://schemas.microsoft.com/office/powerpoint/2010/main" val="18464173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A9AF5B-AE22-43D3-9EBB-7D450556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72490-4756-44E6-BEBC-69E9EF40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12 · CONCRETE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2F50A-CA28-4080-BF24-5BE32E3D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直升机驾驶与地面战线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BC4BE-D00F-46F4-BC32-1478157F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04DF6-E6F5-4BFD-A0CF-53C0F9CF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Armor Alley 的测试覆盖完整战斗循环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48F81-2B2B-44F1-B067-EA52BD0B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B2971-B33B-4B2A-BFE3-C295322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13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DF8D1-BEAF-443C-B904-17631F6E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6195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C"/>
          </a:solidFill>
          <a:ln xmlns:a="http://schemas.openxmlformats.org/drawingml/2006/main" w="0">
            <a:solidFill>
              <a:srgbClr val="1E252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2A085-1A1A-43B4-AFEE-AABAA288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6212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Armor Alley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7A488-34FC-4BB6-B0CD-808176B4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3095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FD5D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FD5DA"/>
                </a:solidFill>
                <a:latin typeface="Arial Unicode MS"/>
                <a:ea typeface="Arial Unicode MS"/>
                <a:cs typeface="Arial Unicode MS"/>
              </a:rPr>
              <a:t>玩家驾驶直升机侦察、攻击和投放士兵，同时花钱生产地面单位。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9F4C8-1671-4BED-8853-8CD70BE5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52875"/>
            <a:ext cx="3095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CC8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8CC8F8"/>
                </a:solidFill>
                <a:latin typeface="Arial Unicode MS"/>
                <a:ea typeface="Arial Unicode MS"/>
                <a:cs typeface="Arial Unicode MS"/>
              </a:rPr>
              <a:t>胜利：友方运输车到达敌方基地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8CC8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8CC8F8"/>
                </a:solidFill>
                <a:latin typeface="Arial Unicode MS"/>
                <a:ea typeface="Arial Unicode MS"/>
                <a:cs typeface="Arial Unicode MS"/>
              </a:rPr>
              <a:t>失败：敌方运输车突破己方基地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6880A-1E94-437B-95BD-4215D2CB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76375"/>
            <a:ext cx="3067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DE9E9-3F8A-4653-A1BE-9154ED79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76375"/>
            <a:ext cx="3067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D3386-E233-438B-9ECF-3513E066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6687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飞行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99B9B-7AAD-4D14-B2A8-AE909104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0502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指针方向与持续加速度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7F2AD-F9FC-43A2-8D15-B84D66BC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067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F6325-E02B-4A03-8340-7C7A89F8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067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62ED7-7A37-49E8-930B-7469DFAC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6687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武器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FAD499-42E5-4219-B58B-675D2632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0502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持续射击、炸弹、制导、投兵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1FE39F-5CD3-4DA6-9D71-2C94CBA1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86075"/>
            <a:ext cx="3067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F04BF-6C9D-40AD-A354-46685B2E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86075"/>
            <a:ext cx="3067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FEF80-F4D0-4DFD-A2E7-BC385C69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7657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经济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55D32B-BDC8-431B-B6B8-FEA0B821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1472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资金、队列、单位上限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AD9DD3-4706-4429-8773-C7B3460B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3067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0DFDDA-47B5-4788-97BC-4AA962A9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3067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9A7A9A-F199-40D0-B280-D9429142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7657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战场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1DCC80-D246-41DA-8C25-E570C17C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1472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单位推进、碉堡、危险与雷达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2307A2-C712-4C6A-8A33-213E4AC2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95775"/>
            <a:ext cx="3067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86E5E9-5E0F-44CD-92C8-D14DD1B0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95775"/>
            <a:ext cx="3067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189286-23A1-4E50-A24D-A054C7FB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8627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维护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D5B0FE-A9D8-469D-A40B-7B03E691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2442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落地后逐步补给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30B2F0-746F-49FB-A882-3D11A2DF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95775"/>
            <a:ext cx="3067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9B638E-FFA2-41C0-8536-FCEDC895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95775"/>
            <a:ext cx="3067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13F461-1CCA-49D8-AE58-1813A21A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8627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终局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16EB70-FA76-4BBF-9238-D8CBD9B0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2442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结果锁、重启与返回菜单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8927C6-39F7-4D1F-B280-F3F4B12D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官方仓库 task/armor-alley/game-spec.md</a:t>
            </a:r>
          </a:p>
        </p:txBody>
      </p:sp>
    </p:spTree>
    <p:extLst>
      <p:ext uri="{BB962C8B-B14F-4D97-AF65-F5344CB8AC3E}">
        <p14:creationId xmlns:p14="http://schemas.microsoft.com/office/powerpoint/2010/main" val="20182686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443692-BC20-455E-8B17-DCCC2B83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B5609-8283-469D-952E-F0F4CF91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13 · ARMOR ALLEY TDD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9B1DD-F3B5-4A5C-B171-4B67B198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从公开契约到隐藏检查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B1FCF-23FD-465F-A835-2FA769B1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795A5-9865-4006-8214-095698FD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持续射击场景不提前产生射击结果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7EED1-5088-4A04-8FD6-414364FB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D6636-C7FB-43AE-92D2-A1F4F784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14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436BD-5520-40FC-B07D-AEDFDDD0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32861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B888A-1B21-4ADE-8AF6-B1520B85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3286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667"/>
          </a:solidFill>
          <a:ln xmlns:a="http://schemas.openxmlformats.org/drawingml/2006/main" w="0">
            <a:solidFill>
              <a:srgbClr val="36866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2470D-6EC9-4960-8949-B730F0C3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57375"/>
            <a:ext cx="2943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31904-D343-4A6C-8991-8C7C3064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95525"/>
            <a:ext cx="29432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loadScenario("air_attack_with_targets")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playing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result = none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airborne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visible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BCB533-FDCF-4BE3-8BBE-6BE66954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7712A-C2B1-491F-A742-C8AB22B5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32861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68866-BB4B-4022-A728-CB0C8F68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3286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94BEE-7772-4CFD-9ECE-01173F73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57375"/>
            <a:ext cx="2943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操作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BC6B53-821A-4D44-A004-3D2F3C31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95525"/>
            <a:ext cx="29432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keyDown("Space")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wait 650 ms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snapshot held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keyUp("Space")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wait 300 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D3BE9-B655-4167-9E3D-5C171B1F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17260-37E2-4F91-83B4-614F6CE5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32861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0B8F6-3FAC-46EF-B508-B25C3324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3286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EF1A2-FCE2-40D8-9784-5FEA3B5D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57375"/>
            <a:ext cx="2943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观察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85A7B9-5230-48D6-AB6F-CAC09305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95525"/>
            <a:ext cx="29432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按住：projectiles ↑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或 revision ↑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或 ammo 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松开：增长进入平台期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D1B41-2C81-4909-B747-566C429F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86375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BE3"/>
          </a:solidFill>
          <a:ln xmlns:a="http://schemas.openxmlformats.org/drawingml/2006/main" w="9525">
            <a:solidFill>
              <a:srgbClr val="B6463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81AFC3-194B-4421-811E-DDAD30E1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1020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起点已经终局、直升机不在空中或目标不存在，检查立即失败。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DF5784-F85A-45AD-8EB4-3A3AD636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Armor Alley tdd.md 与 tests/armor-alley/checks.js</a:t>
            </a:r>
          </a:p>
        </p:txBody>
      </p:sp>
    </p:spTree>
    <p:extLst>
      <p:ext uri="{BB962C8B-B14F-4D97-AF65-F5344CB8AC3E}">
        <p14:creationId xmlns:p14="http://schemas.microsoft.com/office/powerpoint/2010/main" val="3177454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363DF5-4A5B-4F64-B123-4A6B67AB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C5771-E1B3-438D-8C16-F9F44326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14 · REAL BROWSER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14347-395A-4B16-B7AB-7C507B70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官方 checks.js 核心代码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1B9BC-E514-4C2C-8F8D-76202BD1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4FB92-9232-4848-B257-22A7586E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按下和松开都走真实浏览器输入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B6364-F5B2-467E-A239-DC3D0281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416F1-2A16-44FB-9276-74EAFAE9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15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E0EEA-50D7-4E1B-9016-E151B606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715125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C"/>
          </a:solidFill>
          <a:ln xmlns:a="http://schemas.openxmlformats.org/drawingml/2006/main" w="0">
            <a:solidFill>
              <a:srgbClr val="1E252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15E83-E9C1-4C39-B0D6-C10566D9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62388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const before = setup.snap;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await browser.keyDown('Space');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await browser.sleep(650);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const held = await game.snapshot();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await browser.keyUp('Space');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await browser.sleep(300);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const released = await game.snapshot();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const afterRelease = await game.wait(550);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if (!grewWhileHeld)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return FAIL('held fire did not create evidence');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if (!plateauAfterRelease)</a:t>
            </a:r>
          </a:p>
          <a:p xmlns:a="http://schemas.openxmlformats.org/drawingml/2006/main">
            <a:pPr algn="l">
              <a:def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AF0F4"/>
                </a:solidFill>
                <a:latin typeface="Arial Unicode MS"/>
                <a:ea typeface="Arial Unicode MS"/>
                <a:cs typeface="Arial Unicode MS"/>
              </a:rPr>
              <a:t>  return FAIL('fire continued after release');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0036E-8701-4C4E-B6AD-7F990328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76375"/>
            <a:ext cx="3571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0845B-6847-48E3-987F-A03A880D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76375"/>
            <a:ext cx="3571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3FF3F-3AF4-4AD9-9ABE-7C16CC5D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666875"/>
            <a:ext cx="3228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真实输入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0860F-2479-41B3-A502-5C9F5C14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05025"/>
            <a:ext cx="3228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测试不调用 input({type:'holdFire'}) 替代 Space 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8A3BF-26C9-4CDD-9A38-8F2B3947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0375"/>
            <a:ext cx="3571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F91AA-9086-4629-88F6-C86EC533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0375"/>
            <a:ext cx="3571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530B3-B441-4620-861C-DC979955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90875"/>
            <a:ext cx="3228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两次松开后取样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4047A-F0E1-4D0A-A2B8-06FF4635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629025"/>
            <a:ext cx="3228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released 之后再等 550 ms，观察增长是否停止。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EC5E9-73CA-436A-859E-30A36898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24375"/>
            <a:ext cx="3571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D4EE10-323A-48A0-BACD-151C5788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24375"/>
            <a:ext cx="3571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667"/>
          </a:solidFill>
          <a:ln xmlns:a="http://schemas.openxmlformats.org/drawingml/2006/main" w="0">
            <a:solidFill>
              <a:srgbClr val="36866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B112D-D56D-4654-82E7-9A42189D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714875"/>
            <a:ext cx="3228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等价证据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266000-2C8F-44A9-ADF0-25D1BF1D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153025"/>
            <a:ext cx="3228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弹丸、revision、战斗事件或弹药都可以证明行为。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0E92FC-DBEA-4333-804A-4DFA8D71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官方 tests/armor-alley/checks.js：p1-keyboard-sustained-fire-release</a:t>
            </a:r>
          </a:p>
        </p:txBody>
      </p:sp>
    </p:spTree>
    <p:extLst>
      <p:ext uri="{BB962C8B-B14F-4D97-AF65-F5344CB8AC3E}">
        <p14:creationId xmlns:p14="http://schemas.microsoft.com/office/powerpoint/2010/main" val="18037347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12030-DB4E-4A63-822F-F014C344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86BBF-4CE7-4CCA-A379-FF4281C2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15 · PASS AND FAIL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1C7FD-4503-4697-9B7B-329DEC4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一条需求的正向证据与终止条件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D974D-2466-4484-BDF8-681E6582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A6EF5-3EA1-4D6D-9259-C00C57F2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测试同时验证开始增长和停止增长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6BAFA-B5DC-41D2-8CF4-C3C1B618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0C16D-FEF4-4CB7-8995-581006C3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16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51697-05C3-487A-9FF2-A9845880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50958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83FE8-F0DF-433B-9121-BD574150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5095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E49CC-6FDA-4C02-BD88-0152278C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09750"/>
            <a:ext cx="4752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按住期间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2EABC-7F57-45BD-B80C-314AAEB4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47900"/>
            <a:ext cx="47529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grewWhileHeld =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projectileCount 增长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或 projectileRevision 增长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或 combatRevision 增长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或 ammo 减少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只写 firing 布尔值无法通过。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D44C6-A8D1-46DA-9300-F91E7630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0958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373D8-2C65-4C57-AFF5-01E566FE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095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D1014-760D-430E-ACEA-9F1FB476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752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松开之后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19C32-C247-43B8-9DDB-5BBC4FFC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47529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plateauAfterRelease =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弹丸数量不再持续增加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或 projectileRevision 保持不变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允许一个在途弹丸完成，禁止计时器继续生成。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BD6F8-4D3A-4031-B504-24F6663A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81625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键盘监听、发射计时器、弹药与快照必须接到同一份游戏状态。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EAD54-20B7-44ED-907E-62985036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官方 checks.js 中的真实布尔条件，排版仅为便于阅读</a:t>
            </a:r>
          </a:p>
        </p:txBody>
      </p:sp>
    </p:spTree>
    <p:extLst>
      <p:ext uri="{BB962C8B-B14F-4D97-AF65-F5344CB8AC3E}">
        <p14:creationId xmlns:p14="http://schemas.microsoft.com/office/powerpoint/2010/main" val="1124148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39E66A-AF4C-4943-BD39-BD3651A7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8A556-662D-46B3-9155-42955077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16 · COVERAGE WITHIN ONE GAME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63E51-81D1-443F-AD25-3F805F33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每条机制都有准备、动作、观察和不变量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A960D-7DE7-4903-9178-EE5F5868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AE0FA-C7D1-4F7B-98F5-8BABFABC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同一任务还检查方向、伤害、经济与终局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8548E-7939-4C5F-A2FB-B859A3F1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AFF7D-E6EA-42D3-9AF7-10E37274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17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96D1B-A9C1-40C5-942A-6BE7BB9F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5095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B77BF-920B-4966-8AE1-A77DDB88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5095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38141-A9C6-4266-8AC2-7AFE1334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62125"/>
            <a:ext cx="4752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指针飞行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8804F-1163-46CC-945C-A4B47619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00275"/>
            <a:ext cx="4752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从 flight_control_sample 开始，向四个方向移动真实鼠标。左右与上下位移符号必须相反。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1E683-4936-43FB-9BD3-76204D1A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5095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0B2DA-C74B-4D84-80C0-81006089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5095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2714F-617E-43A8-953F-BC605F1F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4752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危险因果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45B19-0ED6-4864-8B80-945D4240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0275"/>
            <a:ext cx="4752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从安全的 air_hazard_nearby 开始，朝危险移动后观察生命、战斗 revision、爆炸或警告。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999ED-CF01-4CD6-95A3-AE6E00ED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5095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8DEEC-146C-4432-945B-5BFE6C4D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5095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6BAEB-4869-453E-AC9B-3AC46EAE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62375"/>
            <a:ext cx="4752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生产拒绝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CF0552-A8B1-48A2-B3D5-1378D133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200525"/>
            <a:ext cx="4752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资金不足或单位上限时，订单被拒绝。资金、队列和单位数保持不变。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30813-BF37-4AFA-AC67-4C8B6D34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5095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D4544-E5F3-43CB-802B-11729ACD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5095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B35D0-F235-4AE2-89E6-A1A2F93B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62375"/>
            <a:ext cx="4752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胜负锁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BD2471-6E94-46C7-A4CA-F2976867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00525"/>
            <a:ext cx="4752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运输车到达基地后出现终局。随后普通攻击与生产不能继续改变结果，restart 清空旧状态。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BA951-EF56-475E-BA19-0A36038D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官方仓库 tests/armor-alley/checks.js 与 task/armor-alley/tdd.md</a:t>
            </a:r>
          </a:p>
        </p:txBody>
      </p:sp>
    </p:spTree>
    <p:extLst>
      <p:ext uri="{BB962C8B-B14F-4D97-AF65-F5344CB8AC3E}">
        <p14:creationId xmlns:p14="http://schemas.microsoft.com/office/powerpoint/2010/main" val="20556107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582CE-5316-440D-BF21-9DFB6891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E1F8B-76ED-4B58-BB8D-F819A0B7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17 · ORIGINAL TABLE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D4F7E-12EA-49A4-BDE2-0D4C5F10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证据层与需求优先级是两套正交标签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CAA22-E1A1-4FA3-9197-E00A7F8F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A390F-F1D7-4BE9-8FB3-21E6883C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336 个源码检查，885 个浏览器行为检查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DD86E-C1CD-47EB-B3AD-C7F0D522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6BB84-76BA-43D4-8E08-7C1ED41E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18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3CED0-822A-4C2F-894A-7F449E98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9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6abb6f4ed4b8d"/>
          <a:stretch xmlns:a="http://schemas.openxmlformats.org/drawingml/2006/main"/>
        </p:blipFill>
        <p:spPr>
          <a:xfrm xmlns:a="http://schemas.openxmlformats.org/drawingml/2006/main">
            <a:off x="838200" y="1975775"/>
            <a:ext cx="10515600" cy="2715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D239A-43CB-464C-B56C-FA6C793D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原论文 Table 2。L1：43 个工具检查、288 个正则、5 个反模式。L2：102 个 P0、534 个 P1、249 个 P2。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BDCB4-3568-4B0F-9761-7CFB231A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Source: GameASG-Bench Table 2</a:t>
            </a:r>
          </a:p>
        </p:txBody>
      </p:sp>
    </p:spTree>
    <p:extLst>
      <p:ext uri="{BB962C8B-B14F-4D97-AF65-F5344CB8AC3E}">
        <p14:creationId xmlns:p14="http://schemas.microsoft.com/office/powerpoint/2010/main" val="21002659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CBF850-5EF2-4552-B13D-BA7E0024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622F1-DCF1-4F0E-9264-FFD59A2E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18 · L2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B384A-B0BB-4D58-B705-0490A024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快照、真实输入与渲染信号相互校验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64AA1-1418-49F0-A6E3-2402360C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332E3-9AFF-4CF2-A47D-61AAB2F3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每条 L2 检查使用一个新浏览器页面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BF6E3-D70A-4951-8FFB-D8FB8CB5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382C4-8351-49B3-AB40-B2BB66E8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19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015D4-99A7-48C6-A8D2-A32E5DE7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7C49F-5059-4E82-94D6-D8BB6096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663F3-561D-4FCC-9F8E-D7E7F800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57375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新页面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95388-4751-4008-894C-C6FA85E1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95525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加载提交，隔离上一条检查的状态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DDADC-BE39-4AAC-939D-4DE8164D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288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4DE2A-AA02-4A6C-AC83-A15CFBE0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66875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9584D-33F7-42AA-B130-6199D197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66875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062BF-2615-4B15-90B4-05B68161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运行一条检查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FCE6B-B519-41CA-9488-813384A8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95525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准备、输入、等待、快照与渲染证据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99A98-83F3-4A6F-AE4A-2A7FDF3D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1B32DB-36BD-4914-BC91-4D6CB85F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66875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7DC42-B8A7-4EA2-8280-13B9645C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66875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667"/>
          </a:solidFill>
          <a:ln xmlns:a="http://schemas.openxmlformats.org/drawingml/2006/main" w="0">
            <a:solidFill>
              <a:srgbClr val="36866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E3E26-4ABC-44B8-BC59-0DB6C587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857375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关闭页面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46AA7C-F215-47CC-8355-0FCBB32B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95525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完成或超时后销毁，再开始下一条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E1788D-A82C-42D4-9890-0D68203F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2676C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698D8-3D9E-40B4-A455-0B83166B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33875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共享浏览器 hook 记录 animation frame、输入监听器、Canvas/WebGL 活动和运行时异常。</a:t>
            </a:r>
          </a:p>
          <a:p xmlns:a="http://schemas.openxmlformats.org/drawingml/2006/main">
            <a:pPr algn="ctr">
              <a:defRPr sz="15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快照提供语义，真实输入确认玩家路径，渲染证据确认状态没有停留在隐藏变量里。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FF423-F93F-44C4-A37D-4A018CF8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论文 §2.3。L1 失败不会阻止 L2 继续运行</a:t>
            </a:r>
          </a:p>
        </p:txBody>
      </p:sp>
    </p:spTree>
    <p:extLst>
      <p:ext uri="{BB962C8B-B14F-4D97-AF65-F5344CB8AC3E}">
        <p14:creationId xmlns:p14="http://schemas.microsoft.com/office/powerpoint/2010/main" val="10672011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B067B1-6FF4-4AED-9677-E5F819A9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C0D9E-32E3-4F6F-B1D7-30B66988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19 · STRICT TASK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6CA82-B840-4C53-9D39-39B9384D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严格成功是产品交付式二元指标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B4C2F-D5B9-41E7-BCF6-6F893217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BCA5E-954C-42ED-B236-A945B4D5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全部必需检查通过，任务才记为成功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BEB71-A119-4600-ABB8-B7951F9A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72A77-175F-48E4-8280-7D20A64C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20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5CB61-8191-4F7E-BB92-BF9B10B0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3286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C2EA8-645F-439A-BF6D-8811D40C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3286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C93"/>
          </a:solidFill>
          <a:ln xmlns:a="http://schemas.openxmlformats.org/drawingml/2006/main" w="0">
            <a:solidFill>
              <a:srgbClr val="858C9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6B67C-CD73-40C0-8218-82101E9F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666875"/>
            <a:ext cx="2943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P0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5C817-5769-45F2-95DC-66719FE7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105025"/>
            <a:ext cx="29432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启动、测试接口、最低运行条件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102 个 L2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83D57-3F08-49DA-8635-29712B8C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286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F5DE6-BABE-4585-8DF4-1C62FE14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286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D524E-7380-4453-BA2B-494C241D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66875"/>
            <a:ext cx="2943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P1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DF009-26BF-42AC-BDD8-83470257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05025"/>
            <a:ext cx="29432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核心机制、交互与不变量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534 个 L2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ADF59-6A72-49BD-B60D-AF735DD4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286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BE3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BD7B4-8505-49CE-A72A-6911B2A1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286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C1DA7-3D01-43F7-888E-7EC54ABA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66875"/>
            <a:ext cx="2943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P2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7706C-BC0C-4A00-8EFD-D9CA75F8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29432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高级机制与体验完整度</a:t>
            </a:r>
          </a:p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249 个 L2，不进入严格成功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8A194-5C6B-43FB-8EFB-7F190218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1019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271CD-BD40-40C2-A2DE-F9F169E6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052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success = valid delivery × completed evaluation</a:t>
            </a:r>
          </a:p>
          <a:p xmlns:a="http://schemas.openxmlformats.org/drawingml/2006/main">
            <a:pPr algn="l">
              <a:defRPr sz="172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× all L1 pass × all applicable L2 P0/P1 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F90BDB-7B67-4C0B-8639-353C5B8B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76675"/>
            <a:ext cx="4238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39/40 个必需检查通过，任务仍记为 0。平均通过率说明差多少，严格成功率说明能不能交付。未交付或未完成评测也进入分母。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D297DB-1AA3-4E2A-888F-BCCB53D7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论文 §2.4、公式 (1)。当前 runner 没有限制 P1 返回 NOT_APPLICABLE</a:t>
            </a:r>
          </a:p>
        </p:txBody>
      </p:sp>
    </p:spTree>
    <p:extLst>
      <p:ext uri="{BB962C8B-B14F-4D97-AF65-F5344CB8AC3E}">
        <p14:creationId xmlns:p14="http://schemas.microsoft.com/office/powerpoint/2010/main" val="2421984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29D90-C31F-446A-9B43-7D8E202E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A42CE-AC94-4B5B-AF90-1312A6B6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20 · ORIGINAL FIGURE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A8E77-4ADB-4ED5-AEAE-F088AE2E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47 个任务的组成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2C106-CB89-4C25-B554-573AE5B2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72223-6193-4915-9416-B6BF08F5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12 类游戏，32 个 2D，15 个 3D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2F4DF-92BA-41B0-BEDF-71701AC0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0C625-1930-4935-BEE2-1D6DD8DA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21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5D0BC-BBA8-4476-8BF4-CEA660AC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9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67d4da79040eb"/>
          <a:stretch xmlns:a="http://schemas.openxmlformats.org/drawingml/2006/main"/>
        </p:blipFill>
        <p:spPr>
          <a:xfrm xmlns:a="http://schemas.openxmlformats.org/drawingml/2006/main">
            <a:off x="2138841" y="1238250"/>
            <a:ext cx="7914317" cy="4953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D8F7B-66DB-4538-AE9F-EC55E30F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055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原论文 Figure 1。技术标签描述参考实现，并不限制 Agent 的实现。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237D9-75B0-476A-B8BB-054A56F4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Source: GameASG-Bench Figure 1</a:t>
            </a:r>
          </a:p>
        </p:txBody>
      </p:sp>
    </p:spTree>
    <p:extLst>
      <p:ext uri="{BB962C8B-B14F-4D97-AF65-F5344CB8AC3E}">
        <p14:creationId xmlns:p14="http://schemas.microsoft.com/office/powerpoint/2010/main" val="3683269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2F66A-34AB-4FD0-9A09-768D7F87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A76E3-E7BD-4947-8311-71327E3B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21 · ORIGINAL TABLE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BEFF3-9471-4D02-932A-4D0EF4F9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九个 agent stack 的端到端结果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C74AD-F99A-4FA9-A828-A79CB4CE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D6481-C15D-42A1-9B92-4AB9CC86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最佳严格成功 26/47，平均 L2 已达 93.2%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57EDA-708C-42A8-89DA-078C4368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9D65F-1D42-4E15-833D-914FB3B1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22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F2EEF-EEE7-4B25-AD8F-9D2BDFE5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9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d86945aff47da"/>
          <a:stretch xmlns:a="http://schemas.openxmlformats.org/drawingml/2006/main"/>
        </p:blipFill>
        <p:spPr>
          <a:xfrm xmlns:a="http://schemas.openxmlformats.org/drawingml/2006/main">
            <a:off x="838200" y="1312179"/>
            <a:ext cx="10515600" cy="480514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E0D69-0FB7-4810-B2CF-421F5D67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579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原论文 Table 3。高平均通过率与未完成任务同时存在。每个 task-configuration 组合只运行一次。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BCFEC-4867-4F72-896E-63ED6994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Source: GameASG-Bench Table 3</a:t>
            </a:r>
          </a:p>
        </p:txBody>
      </p:sp>
    </p:spTree>
    <p:extLst>
      <p:ext uri="{BB962C8B-B14F-4D97-AF65-F5344CB8AC3E}">
        <p14:creationId xmlns:p14="http://schemas.microsoft.com/office/powerpoint/2010/main" val="13556998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D41A0-07E9-498D-8AFD-F1F85990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0049F-081C-423A-A2EC-64D4C8E9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22 · ORIGINAL TABLE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084CA-7C42-48E8-B286-2EA5EA3E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产物大小、token 与报告成本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A1055-49C4-4E60-9E67-6EFC723C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75EE9-0CAE-48E8-81AE-00F97D46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更多 token 没有稳定换来更多严格成功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3428B-BE1D-4FC5-B3DB-064DD53B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E1295-2C13-479B-90BA-DE05EF04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23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455AF-05C2-40E1-A7E5-B3D8B06D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9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ec9a7cc5542c2"/>
          <a:stretch xmlns:a="http://schemas.openxmlformats.org/drawingml/2006/main"/>
        </p:blipFill>
        <p:spPr>
          <a:xfrm xmlns:a="http://schemas.openxmlformats.org/drawingml/2006/main">
            <a:off x="838200" y="1660378"/>
            <a:ext cx="10515600" cy="410874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F8F2B-B52D-404D-A5E1-517E3C90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103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原论文 Table 4。资源指标按各 stack 的报告口径统计。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C22D7-DE36-436E-B862-16C944DA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Source: GameASG-Bench Table 4</a:t>
            </a:r>
          </a:p>
        </p:txBody>
      </p:sp>
    </p:spTree>
    <p:extLst>
      <p:ext uri="{BB962C8B-B14F-4D97-AF65-F5344CB8AC3E}">
        <p14:creationId xmlns:p14="http://schemas.microsoft.com/office/powerpoint/2010/main" val="4639303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45049-24B9-4C73-9983-E68DE935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BF71C-5AA2-4777-ABBB-19953872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23 · ORIGINAL TABLES 5 AND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E45E4-B83B-41B2-9151-298D8008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DeepSeek-V4-Flash + Claude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2672A-3D21-46E7-AF00-9D182938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21E4B-ABF8-4E94-93E7-A4AC7D38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完整工具提高 P1，短预算先截断交付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13507-59BF-4EAC-BF24-EAB00C5A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A04A3-66A3-4F86-85B1-153E67DC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24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0FB37-0DD0-408F-9A4D-4F13A86F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334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E3CEA-2B56-440D-90E6-FB9952D6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33500"/>
            <a:ext cx="5334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9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1c2122db74b4e"/>
          <a:stretch xmlns:a="http://schemas.openxmlformats.org/drawingml/2006/main"/>
        </p:blipFill>
        <p:spPr>
          <a:xfrm xmlns:a="http://schemas.openxmlformats.org/drawingml/2006/main">
            <a:off x="742950" y="2732792"/>
            <a:ext cx="5105400" cy="1487666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dee81189e461b"/>
          <a:stretch xmlns:a="http://schemas.openxmlformats.org/drawingml/2006/main"/>
        </p:blipFill>
        <p:spPr>
          <a:xfrm xmlns:a="http://schemas.openxmlformats.org/drawingml/2006/main">
            <a:off x="6343650" y="2732792"/>
            <a:ext cx="5105400" cy="148766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7D3CA-A777-4FE0-A0D9-02D6082E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Table 5：完整工具 18/47，受限工具 6 至 9/47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A424F-C424-499A-851C-97D9DF3E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388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Table 6：30、60、120 turns 完成评测 10、32、47 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13E1F-0F92-47E7-812B-AA785422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原论文 Tables 5、6。30 turns 的条件成功率 70.0%，全体成功率 14.9%</a:t>
            </a:r>
          </a:p>
        </p:txBody>
      </p:sp>
    </p:spTree>
    <p:extLst>
      <p:ext uri="{BB962C8B-B14F-4D97-AF65-F5344CB8AC3E}">
        <p14:creationId xmlns:p14="http://schemas.microsoft.com/office/powerpoint/2010/main" val="92015769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DFD04-8726-4F6B-8C8E-7300F3AA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02F8D-2748-4943-9C00-E60AE95D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24 · ORIGINAL TABLES 7 AND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F1A83-16B5-49AE-87AE-3E069E7D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同分不代表相同行为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2F9E6-AADF-4AE1-88D3-176B37CF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4492F-45AA-4A3A-8633-2F0AA3BC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High 成功更多，两个 harness 只共享 10 道成功题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4ACE8-8991-4E58-99A9-1C2F8438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A7B89-E331-4D6C-BB34-C351C000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25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CE84C-8B8C-4710-98AA-47F787A7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334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0BE4A-DE45-4533-B329-D7824692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33500"/>
            <a:ext cx="5334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9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771e771e54796"/>
          <a:stretch xmlns:a="http://schemas.openxmlformats.org/drawingml/2006/main"/>
        </p:blipFill>
        <p:spPr>
          <a:xfrm xmlns:a="http://schemas.openxmlformats.org/drawingml/2006/main">
            <a:off x="742950" y="2820409"/>
            <a:ext cx="5105400" cy="1217181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6e0f56c95474d"/>
          <a:stretch xmlns:a="http://schemas.openxmlformats.org/drawingml/2006/main"/>
        </p:blipFill>
        <p:spPr>
          <a:xfrm xmlns:a="http://schemas.openxmlformats.org/drawingml/2006/main">
            <a:off x="6343650" y="2803504"/>
            <a:ext cx="5105400" cy="1250992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938E1-47E1-42D2-B49E-87828D8F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Table 7：High 19/47，Max 18/47；High 少用 26.9% reasoning tokens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CA8E3-BEAD-4954-AC1A-6765C37E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72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Table 8：两种 harness 都是 18/47，只有 10 道题共同成功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56071-7504-4940-A018-9DE392DC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原论文 Tables 7、8。单次运行不足以建立稳定的绝对排名</a:t>
            </a:r>
          </a:p>
        </p:txBody>
      </p:sp>
    </p:spTree>
    <p:extLst>
      <p:ext uri="{BB962C8B-B14F-4D97-AF65-F5344CB8AC3E}">
        <p14:creationId xmlns:p14="http://schemas.microsoft.com/office/powerpoint/2010/main" val="120249390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DAC035-65E0-478E-AF9A-A425E7AD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9525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226F1-93BD-44AA-8D8F-5A0A0187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676C9"/>
                </a:solidFill>
                <a:latin typeface="Arial Unicode MS"/>
                <a:ea typeface="Arial Unicode MS"/>
                <a:cs typeface="Arial Unicode MS"/>
              </a:rPr>
              <a:t>25 · ORIGINAL TABLE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AE48E-7107-4EAF-8A0A-2DEC0C16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真实案例与方法边界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6530A-7047-4033-AD35-ECEFB181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BDA4D-1637-47C8-A492-091B942F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失败发生在输入、场景与自然时间的组合处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05593-E72B-48B1-AD9B-576337C3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solidFill>
              <a:srgbClr val="CBC7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1C4BB-2E56-4404-9116-156CD104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81775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26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261A3-54A5-48A6-B942-42E06286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5572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9"/>
            </a:solidFill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ef843cd5e4ce7"/>
          <a:stretch xmlns:a="http://schemas.openxmlformats.org/drawingml/2006/main"/>
        </p:blipFill>
        <p:spPr>
          <a:xfrm xmlns:a="http://schemas.openxmlformats.org/drawingml/2006/main">
            <a:off x="781050" y="1763292"/>
            <a:ext cx="5343525" cy="152166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C34E4-3504-4F0F-B8C2-4E3E4267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333500"/>
            <a:ext cx="4810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CBAFF-EC2A-4C78-90D5-A8E6E7EE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333500"/>
            <a:ext cx="4810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EFCD4-FE05-4460-9E0E-E863BBB1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524000"/>
            <a:ext cx="4467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Diner Dasher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B08F6-5669-48A4-8026-86867B72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962150"/>
            <a:ext cx="4467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真实鼠标和触摸拖拽没有增加服务进度。L1、P0 与 P2 仍然通过。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8AA2A-4EB7-48BF-829D-03C742BC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19375"/>
            <a:ext cx="4810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212E9-F982-4C60-8991-B4A0ECAB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19375"/>
            <a:ext cx="4810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80825-0A69-4DC9-8688-E1BD1099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09875"/>
            <a:ext cx="4467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Turbo Smash Beast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8FE7A-3C6B-48E2-AE5A-AB12D7ED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48025"/>
            <a:ext cx="4467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场景加载关闭自然时间。分开的自测通过，组合路径冻结。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00D2A-5BA7-4134-8701-7E2808CF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333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2F6E8-0B6E-482C-9CFA-F2641E7F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C9"/>
          </a:solidFill>
          <a:ln xmlns:a="http://schemas.openxmlformats.org/drawingml/2006/main" w="0">
            <a:solidFill>
              <a:srgbClr val="2676C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27638-F48E-404D-95E2-69C768F5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适用范围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7E89E-4F13-43A5-B81C-83B51516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2990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47 个自包含单页游戏。结果不直接代表后端、数据库、多人同步或长期运行系统。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BFAE3-4E41-407D-8C91-13C47E7F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333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241F1F-BFE5-420B-BE32-D4211E97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C36"/>
          </a:solidFill>
          <a:ln xmlns:a="http://schemas.openxmlformats.org/drawingml/2006/main" w="0">
            <a:solidFill>
              <a:srgbClr val="E86C3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75E93E-27E5-4C0F-8480-B49CC600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862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实验解释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CCAC0B-4A63-49EE-94B2-FAC00ED5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24400"/>
            <a:ext cx="2990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每个任务与配置只跑一次，没有方差或置信区间。Harness 属于 agent stack。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A92E9-5C98-4204-B1E3-2321AB5C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7B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67E0A1-B2FF-4ECA-A49A-4524B4E5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667"/>
          </a:solidFill>
          <a:ln xmlns:a="http://schemas.openxmlformats.org/drawingml/2006/main" w="0">
            <a:solidFill>
              <a:srgbClr val="36866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4B6BB5-8449-4B14-A280-89273576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028"/>
                </a:solidFill>
                <a:latin typeface="Arial Unicode MS"/>
                <a:ea typeface="Arial Unicode MS"/>
                <a:cs typeface="Arial Unicode MS"/>
              </a:rPr>
              <a:t>计分边界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70D2E6-5353-4C23-A614-12A520A5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24400"/>
            <a:ext cx="289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F4A54"/>
                </a:solidFill>
                <a:latin typeface="Arial Unicode MS"/>
                <a:ea typeface="Arial Unicode MS"/>
                <a:cs typeface="Arial Unicode MS"/>
              </a:rPr>
              <a:t>P1 可返回 NOT_APPLICABLE。参考实现通过也不能证明规格覆盖所有错误。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3305DE-58F7-4DB4-81AE-B9D2A7C7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737C84"/>
                </a:solidFill>
                <a:latin typeface="Arial Unicode MS"/>
                <a:ea typeface="Arial Unicode MS"/>
                <a:cs typeface="Arial Unicode MS"/>
              </a:rPr>
              <a:t>原论文 Table 9、§4.6、附录 A.1；限制综合自论文 §2.4、§3.1、§4.1</a:t>
            </a:r>
          </a:p>
        </p:txBody>
      </p:sp>
    </p:spTree>
    <p:extLst>
      <p:ext uri="{BB962C8B-B14F-4D97-AF65-F5344CB8AC3E}">
        <p14:creationId xmlns:p14="http://schemas.microsoft.com/office/powerpoint/2010/main" val="657633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2026-09-21T15:10:00.7980000Z</dcterms:created>
  <dcterms:modified xsi:type="dcterms:W3CDTF">2026-09-21T15:10:00.7980000Z</dcterms:modified>
</coreProperties>
</file>